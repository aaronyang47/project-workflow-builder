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47"/>
  </p:normalViewPr>
  <p:slideViewPr>
    <p:cSldViewPr snapToGrid="0">
      <p:cViewPr varScale="1">
        <p:scale>
          <a:sx n="149" d="100"/>
          <a:sy n="14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JF Meetings Transcripts.docx — Block 2: use objective yes/no evidence and do not let a score override hard fails.</a:t>
            </a:r>
          </a:p>
          <a:p>
            <a:r>
              <a:t>- Current system: DEFAULT_OPPORTUNITY_BUSINESS_RULES in opportunity-rules.ts and scoreSource / scoreBreakdown in opportunity-evaluation.ts.</a:t>
            </a:r>
          </a:p>
          <a:p>
            <a:r>
              <a:t>- Current defaults: authority 15, project 15, site 10, design 10, modular 15, budget 15, fundingTimeline 10, teamCommitment 10; grade thresholds Strong 75, Moderate 50, Weak 25.</a:t>
            </a:r>
          </a:p>
          <a:p>
            <a:r>
              <a:t>- Current Gate 1 control: project-operations.ts requires ten qualification questions answered Yes with evidence, plus commercial, payment, and approval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>
            <a:extLst>
              <a:ext uri="{FF2B5EF4-FFF2-40B4-BE49-F238E27FC236}">
                <a16:creationId xmlns:a16="http://schemas.microsoft.com/office/drawing/2014/main" id="{B4FEDE4A-72AE-4202-8D7E-24C2E5990566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65722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879"/>
          </a:bodyPr>
          <a:lstStyle/>
          <a:p>
            <a:pPr algn="l">
              <a:defRPr sz="35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One map.</a:t>
            </a:r>
          </a:p>
          <a:p>
            <a:pPr algn="l">
              <a:defRPr sz="35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Three layers.</a:t>
            </a:r>
          </a:p>
          <a:p>
            <a:pPr algn="l">
              <a:defRPr sz="35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 clearer path to Go / Hold / No-Go.</a:t>
            </a:r>
          </a:p>
        </p:txBody>
      </p:sp>
      <p:sp>
        <p:nvSpPr>
          <p:cNvPr id="3" name="cover-rule">
            <a:extLst>
              <a:ext uri="{FF2B5EF4-FFF2-40B4-BE49-F238E27FC236}">
                <a16:creationId xmlns:a16="http://schemas.microsoft.com/office/drawing/2014/main" id="{B5219286-6C3C-48C5-A7CD-35CB1535F9C6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628650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-l3">
            <a:extLst>
              <a:ext uri="{FF2B5EF4-FFF2-40B4-BE49-F238E27FC236}">
                <a16:creationId xmlns:a16="http://schemas.microsoft.com/office/drawing/2014/main" id="{C2FD6BD4-7202-401F-8564-6272EEC89570}"/>
              </a:ext>
            </a:extLst>
          </p:cNvPr>
          <p:cNvSpPr>
            <a:spLocks noGrp="1"/>
          </p:cNvSpPr>
          <p:nvPr/>
        </p:nvSpPr>
        <p:spPr>
          <a:xfrm>
            <a:off x="7448550" y="3886200"/>
            <a:ext cx="4000500" cy="1066800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ver-l2">
            <a:extLst>
              <a:ext uri="{FF2B5EF4-FFF2-40B4-BE49-F238E27FC236}">
                <a16:creationId xmlns:a16="http://schemas.microsoft.com/office/drawing/2014/main" id="{B83233CE-49E9-4246-BFD6-475FEA98858D}"/>
              </a:ext>
            </a:extLst>
          </p:cNvPr>
          <p:cNvSpPr>
            <a:spLocks noGrp="1"/>
          </p:cNvSpPr>
          <p:nvPr/>
        </p:nvSpPr>
        <p:spPr>
          <a:xfrm>
            <a:off x="8020050" y="2762250"/>
            <a:ext cx="2857500" cy="876300"/>
          </a:xfrm>
          <a:prstGeom prst="roundRect">
            <a:avLst>
              <a:gd name="adj" fmla="val 8696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ver-l1">
            <a:extLst>
              <a:ext uri="{FF2B5EF4-FFF2-40B4-BE49-F238E27FC236}">
                <a16:creationId xmlns:a16="http://schemas.microsoft.com/office/drawing/2014/main" id="{02174A45-446D-49A9-985B-127791D243ED}"/>
              </a:ext>
            </a:extLst>
          </p:cNvPr>
          <p:cNvSpPr>
            <a:spLocks noGrp="1"/>
          </p:cNvSpPr>
          <p:nvPr/>
        </p:nvSpPr>
        <p:spPr>
          <a:xfrm>
            <a:off x="8591550" y="1809750"/>
            <a:ext cx="1714500" cy="685800"/>
          </a:xfrm>
          <a:prstGeom prst="roundRect">
            <a:avLst>
              <a:gd name="adj" fmla="val 11111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ver-l1-text">
            <a:extLst>
              <a:ext uri="{FF2B5EF4-FFF2-40B4-BE49-F238E27FC236}">
                <a16:creationId xmlns:a16="http://schemas.microsoft.com/office/drawing/2014/main" id="{92B562CC-505D-4BC7-8BD2-649E5420BDC3}"/>
              </a:ext>
            </a:extLst>
          </p:cNvPr>
          <p:cNvSpPr>
            <a:spLocks noGrp="1"/>
          </p:cNvSpPr>
          <p:nvPr/>
        </p:nvSpPr>
        <p:spPr>
          <a:xfrm>
            <a:off x="8743950" y="1914525"/>
            <a:ext cx="140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L1</a:t>
            </a:r>
          </a:p>
          <a:p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 LEVEL</a:t>
            </a:r>
          </a:p>
        </p:txBody>
      </p:sp>
      <p:sp>
        <p:nvSpPr>
          <p:cNvPr id="10" name="cover-l2-text">
            <a:extLst>
              <a:ext uri="{FF2B5EF4-FFF2-40B4-BE49-F238E27FC236}">
                <a16:creationId xmlns:a16="http://schemas.microsoft.com/office/drawing/2014/main" id="{60D04800-4982-45A1-8F97-FE394ABDA4C9}"/>
              </a:ext>
            </a:extLst>
          </p:cNvPr>
          <p:cNvSpPr>
            <a:spLocks noGrp="1"/>
          </p:cNvSpPr>
          <p:nvPr/>
        </p:nvSpPr>
        <p:spPr>
          <a:xfrm>
            <a:off x="8096250" y="3067050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L2  DETAILED WORKFLOW</a:t>
            </a:r>
          </a:p>
        </p:txBody>
      </p:sp>
      <p:sp>
        <p:nvSpPr>
          <p:cNvPr id="11" name="cover-l3-text">
            <a:extLst>
              <a:ext uri="{FF2B5EF4-FFF2-40B4-BE49-F238E27FC236}">
                <a16:creationId xmlns:a16="http://schemas.microsoft.com/office/drawing/2014/main" id="{D125FFB9-41F7-4806-8A20-666CF0B1FB77}"/>
              </a:ext>
            </a:extLst>
          </p:cNvPr>
          <p:cNvSpPr>
            <a:spLocks noGrp="1"/>
          </p:cNvSpPr>
          <p:nvPr/>
        </p:nvSpPr>
        <p:spPr>
          <a:xfrm>
            <a:off x="7848600" y="4295775"/>
            <a:ext cx="320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L3  EXECUTION VIEW</a:t>
            </a:r>
          </a:p>
        </p:txBody>
      </p:sp>
      <p:sp>
        <p:nvSpPr>
          <p:cNvPr id="12" name="cover-caption">
            <a:extLst>
              <a:ext uri="{FF2B5EF4-FFF2-40B4-BE49-F238E27FC236}">
                <a16:creationId xmlns:a16="http://schemas.microsoft.com/office/drawing/2014/main" id="{9C5BA890-FA24-4D52-8A1A-B6E7F8ABC536}"/>
              </a:ext>
            </a:extLst>
          </p:cNvPr>
          <p:cNvSpPr>
            <a:spLocks noGrp="1"/>
          </p:cNvSpPr>
          <p:nvPr/>
        </p:nvSpPr>
        <p:spPr>
          <a:xfrm>
            <a:off x="7162800" y="5391150"/>
            <a:ext cx="462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141"/>
          </a:bodyPr>
          <a:lstStyle/>
          <a:p>
            <a:pPr algn="ctr">
              <a:defRPr sz="1200" b="0" i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Open High Level → choose Detailed Workflow → execute in Execution View</a:t>
            </a:r>
          </a:p>
        </p:txBody>
      </p:sp>
      <p:sp>
        <p:nvSpPr>
          <p:cNvPr id="13" name="cover-date">
            <a:extLst>
              <a:ext uri="{FF2B5EF4-FFF2-40B4-BE49-F238E27FC236}">
                <a16:creationId xmlns:a16="http://schemas.microsoft.com/office/drawing/2014/main" id="{F89DC478-2F22-4DEE-8AEA-0D11C4D53E0A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31 August 2026</a:t>
            </a:r>
          </a:p>
        </p:txBody>
      </p:sp>
      <p:sp>
        <p:nvSpPr>
          <p:cNvPr id="14" name="footer-rule-1">
            <a:extLst>
              <a:ext uri="{FF2B5EF4-FFF2-40B4-BE49-F238E27FC236}">
                <a16:creationId xmlns:a16="http://schemas.microsoft.com/office/drawing/2014/main" id="{A81A3CFF-65EF-491A-9429-F46DC916275A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ooter-page-1">
            <a:extLst>
              <a:ext uri="{FF2B5EF4-FFF2-40B4-BE49-F238E27FC236}">
                <a16:creationId xmlns:a16="http://schemas.microsoft.com/office/drawing/2014/main" id="{6553E020-AC5E-4756-BF57-52E828AD94E0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5525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-2">
            <a:extLst>
              <a:ext uri="{FF2B5EF4-FFF2-40B4-BE49-F238E27FC236}">
                <a16:creationId xmlns:a16="http://schemas.microsoft.com/office/drawing/2014/main" id="{2ED633A5-F650-482F-B9E2-F4A8B2B5404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 dirty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HOW THE SYSTEM WORKS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D7A85C16-10EE-45A3-B55B-AC5547237327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 dirty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One system. Three layers. One operating story.</a:t>
            </a: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A58ACA79-B781-4DD6-AC88-B2648ACFBEB7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11125200" cy="0"/>
          </a:xfrm>
          <a:prstGeom prst="line">
            <a:avLst/>
          </a:prstGeom>
          <a:noFill/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rule-2">
            <a:extLst>
              <a:ext uri="{FF2B5EF4-FFF2-40B4-BE49-F238E27FC236}">
                <a16:creationId xmlns:a16="http://schemas.microsoft.com/office/drawing/2014/main" id="{AFE7C246-401A-4B31-9076-993822A1FD17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label-2">
            <a:extLst>
              <a:ext uri="{FF2B5EF4-FFF2-40B4-BE49-F238E27FC236}">
                <a16:creationId xmlns:a16="http://schemas.microsoft.com/office/drawing/2014/main" id="{E0D1690C-E9B0-4428-9E25-F730B36BA33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PROFAB / ELEVATOR PITCH</a:t>
            </a:r>
          </a:p>
        </p:txBody>
      </p:sp>
      <p:sp>
        <p:nvSpPr>
          <p:cNvPr id="6" name="footer-page-2">
            <a:extLst>
              <a:ext uri="{FF2B5EF4-FFF2-40B4-BE49-F238E27FC236}">
                <a16:creationId xmlns:a16="http://schemas.microsoft.com/office/drawing/2014/main" id="{35FC445C-6451-48DF-8048-04E41BE3BF29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pyramid-lead">
            <a:extLst>
              <a:ext uri="{FF2B5EF4-FFF2-40B4-BE49-F238E27FC236}">
                <a16:creationId xmlns:a16="http://schemas.microsoft.com/office/drawing/2014/main" id="{0395E12F-C76E-470F-8D68-D8896B89E552}"/>
              </a:ext>
            </a:extLst>
          </p:cNvPr>
          <p:cNvSpPr>
            <a:spLocks noGrp="1"/>
          </p:cNvSpPr>
          <p:nvPr/>
        </p:nvSpPr>
        <p:spPr>
          <a:xfrm>
            <a:off x="533400" y="1390650"/>
            <a:ext cx="628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the smallest view that answers the question in front of you.</a:t>
            </a:r>
          </a:p>
        </p:txBody>
      </p:sp>
      <p:sp>
        <p:nvSpPr>
          <p:cNvPr id="8" name="pyramid-axis">
            <a:extLst>
              <a:ext uri="{FF2B5EF4-FFF2-40B4-BE49-F238E27FC236}">
                <a16:creationId xmlns:a16="http://schemas.microsoft.com/office/drawing/2014/main" id="{04BE4F94-1E01-47C7-8FFA-8C0CFE17D31C}"/>
              </a:ext>
            </a:extLst>
          </p:cNvPr>
          <p:cNvSpPr>
            <a:spLocks noGrp="1"/>
          </p:cNvSpPr>
          <p:nvPr/>
        </p:nvSpPr>
        <p:spPr>
          <a:xfrm>
            <a:off x="4038600" y="2076450"/>
            <a:ext cx="0" cy="3105150"/>
          </a:xfrm>
          <a:prstGeom prst="line">
            <a:avLst/>
          </a:prstGeom>
          <a:noFill/>
          <a:ln w="19050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yramid-up-arrow">
            <a:extLst>
              <a:ext uri="{FF2B5EF4-FFF2-40B4-BE49-F238E27FC236}">
                <a16:creationId xmlns:a16="http://schemas.microsoft.com/office/drawing/2014/main" id="{BE3A751D-BEAB-4032-8510-4C8A657677D0}"/>
              </a:ext>
            </a:extLst>
          </p:cNvPr>
          <p:cNvSpPr>
            <a:spLocks noGrp="1"/>
          </p:cNvSpPr>
          <p:nvPr/>
        </p:nvSpPr>
        <p:spPr>
          <a:xfrm>
            <a:off x="3886200" y="1924050"/>
            <a:ext cx="304800" cy="381000"/>
          </a:xfrm>
          <a:prstGeom prst="rightArrow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yramid-l3">
            <a:extLst>
              <a:ext uri="{FF2B5EF4-FFF2-40B4-BE49-F238E27FC236}">
                <a16:creationId xmlns:a16="http://schemas.microsoft.com/office/drawing/2014/main" id="{2B1C7582-7589-4933-B6AA-E7DDB128C4AC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5905500" cy="1123950"/>
          </a:xfrm>
          <a:prstGeom prst="roundRect">
            <a:avLst>
              <a:gd name="adj" fmla="val 6780"/>
            </a:avLst>
          </a:prstGeom>
          <a:solidFill>
            <a:srgbClr val="F2F4F7"/>
          </a:solidFill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yramid-l2">
            <a:extLst>
              <a:ext uri="{FF2B5EF4-FFF2-40B4-BE49-F238E27FC236}">
                <a16:creationId xmlns:a16="http://schemas.microsoft.com/office/drawing/2014/main" id="{E736B099-B830-4803-B17B-10B5B89BC7BA}"/>
              </a:ext>
            </a:extLst>
          </p:cNvPr>
          <p:cNvSpPr>
            <a:spLocks noGrp="1"/>
          </p:cNvSpPr>
          <p:nvPr/>
        </p:nvSpPr>
        <p:spPr>
          <a:xfrm>
            <a:off x="1809750" y="2895600"/>
            <a:ext cx="4343400" cy="895350"/>
          </a:xfrm>
          <a:prstGeom prst="roundRect">
            <a:avLst>
              <a:gd name="adj" fmla="val 8511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yramid-l1">
            <a:extLst>
              <a:ext uri="{FF2B5EF4-FFF2-40B4-BE49-F238E27FC236}">
                <a16:creationId xmlns:a16="http://schemas.microsoft.com/office/drawing/2014/main" id="{2FD0C8EB-8427-4515-B699-08C4FD74B2E8}"/>
              </a:ext>
            </a:extLst>
          </p:cNvPr>
          <p:cNvSpPr>
            <a:spLocks noGrp="1"/>
          </p:cNvSpPr>
          <p:nvPr/>
        </p:nvSpPr>
        <p:spPr>
          <a:xfrm>
            <a:off x="2686050" y="1943100"/>
            <a:ext cx="2590800" cy="723900"/>
          </a:xfrm>
          <a:prstGeom prst="roundRect">
            <a:avLst>
              <a:gd name="adj" fmla="val 10526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yramid-l1-label">
            <a:extLst>
              <a:ext uri="{FF2B5EF4-FFF2-40B4-BE49-F238E27FC236}">
                <a16:creationId xmlns:a16="http://schemas.microsoft.com/office/drawing/2014/main" id="{09B25A7C-65EC-4A3C-B387-C9FFDBBBFAE4}"/>
              </a:ext>
            </a:extLst>
          </p:cNvPr>
          <p:cNvSpPr>
            <a:spLocks noGrp="1"/>
          </p:cNvSpPr>
          <p:nvPr/>
        </p:nvSpPr>
        <p:spPr>
          <a:xfrm>
            <a:off x="2914650" y="21526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L1  HIGH LEVEL</a:t>
            </a:r>
          </a:p>
        </p:txBody>
      </p:sp>
      <p:sp>
        <p:nvSpPr>
          <p:cNvPr id="14" name="pyramid-l2-label">
            <a:extLst>
              <a:ext uri="{FF2B5EF4-FFF2-40B4-BE49-F238E27FC236}">
                <a16:creationId xmlns:a16="http://schemas.microsoft.com/office/drawing/2014/main" id="{21F9E615-B726-47D5-A5D9-CC495BD2A7F8}"/>
              </a:ext>
            </a:extLst>
          </p:cNvPr>
          <p:cNvSpPr>
            <a:spLocks noGrp="1"/>
          </p:cNvSpPr>
          <p:nvPr/>
        </p:nvSpPr>
        <p:spPr>
          <a:xfrm>
            <a:off x="2343150" y="32004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L2  DETAILED WORKFLOW</a:t>
            </a:r>
          </a:p>
        </p:txBody>
      </p:sp>
      <p:sp>
        <p:nvSpPr>
          <p:cNvPr id="15" name="pyramid-l3-label">
            <a:extLst>
              <a:ext uri="{FF2B5EF4-FFF2-40B4-BE49-F238E27FC236}">
                <a16:creationId xmlns:a16="http://schemas.microsoft.com/office/drawing/2014/main" id="{8B1B6CD1-C5F2-4231-81DF-190B2323ACE7}"/>
              </a:ext>
            </a:extLst>
          </p:cNvPr>
          <p:cNvSpPr>
            <a:spLocks noGrp="1"/>
          </p:cNvSpPr>
          <p:nvPr/>
        </p:nvSpPr>
        <p:spPr>
          <a:xfrm>
            <a:off x="2095500" y="4438650"/>
            <a:ext cx="3771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L3  EXECUTION VIEW</a:t>
            </a:r>
          </a:p>
        </p:txBody>
      </p:sp>
      <p:sp>
        <p:nvSpPr>
          <p:cNvPr id="16" name="pyramid-question">
            <a:extLst>
              <a:ext uri="{FF2B5EF4-FFF2-40B4-BE49-F238E27FC236}">
                <a16:creationId xmlns:a16="http://schemas.microsoft.com/office/drawing/2014/main" id="{BFA8A0D8-7B67-4F67-8407-B2E86053335B}"/>
              </a:ext>
            </a:extLst>
          </p:cNvPr>
          <p:cNvSpPr>
            <a:spLocks noGrp="1"/>
          </p:cNvSpPr>
          <p:nvPr/>
        </p:nvSpPr>
        <p:spPr>
          <a:xfrm>
            <a:off x="7620000" y="1657350"/>
            <a:ext cx="3714750" cy="3505200"/>
          </a:xfrm>
          <a:prstGeom prst="roundRect">
            <a:avLst>
              <a:gd name="adj" fmla="val 2174"/>
            </a:avLst>
          </a:prstGeom>
          <a:solidFill>
            <a:srgbClr val="F2F4F7"/>
          </a:solidFill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yramid-list-title">
            <a:extLst>
              <a:ext uri="{FF2B5EF4-FFF2-40B4-BE49-F238E27FC236}">
                <a16:creationId xmlns:a16="http://schemas.microsoft.com/office/drawing/2014/main" id="{E9BF2ED0-9B6B-45ED-AE5A-D67C5F423656}"/>
              </a:ext>
            </a:extLst>
          </p:cNvPr>
          <p:cNvSpPr>
            <a:spLocks noGrp="1"/>
          </p:cNvSpPr>
          <p:nvPr/>
        </p:nvSpPr>
        <p:spPr>
          <a:xfrm>
            <a:off x="7924800" y="19240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Three questions</a:t>
            </a:r>
          </a:p>
        </p:txBody>
      </p:sp>
      <p:sp>
        <p:nvSpPr>
          <p:cNvPr id="18" name="pyramid-dot-0">
            <a:extLst>
              <a:ext uri="{FF2B5EF4-FFF2-40B4-BE49-F238E27FC236}">
                <a16:creationId xmlns:a16="http://schemas.microsoft.com/office/drawing/2014/main" id="{CB0D2835-B2EE-4BB0-8025-A4D272C9A624}"/>
              </a:ext>
            </a:extLst>
          </p:cNvPr>
          <p:cNvSpPr>
            <a:spLocks noGrp="1"/>
          </p:cNvSpPr>
          <p:nvPr/>
        </p:nvSpPr>
        <p:spPr>
          <a:xfrm>
            <a:off x="7924800" y="2514600"/>
            <a:ext cx="342900" cy="3429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yramid-dot-text-0">
            <a:extLst>
              <a:ext uri="{FF2B5EF4-FFF2-40B4-BE49-F238E27FC236}">
                <a16:creationId xmlns:a16="http://schemas.microsoft.com/office/drawing/2014/main" id="{97EDD623-2B6F-4DE1-B364-34D4BDD98190}"/>
              </a:ext>
            </a:extLst>
          </p:cNvPr>
          <p:cNvSpPr>
            <a:spLocks noGrp="1"/>
          </p:cNvSpPr>
          <p:nvPr/>
        </p:nvSpPr>
        <p:spPr>
          <a:xfrm>
            <a:off x="7924800" y="25908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L1</a:t>
            </a:r>
          </a:p>
        </p:txBody>
      </p:sp>
      <p:sp>
        <p:nvSpPr>
          <p:cNvPr id="20" name="pyramid-q-0">
            <a:extLst>
              <a:ext uri="{FF2B5EF4-FFF2-40B4-BE49-F238E27FC236}">
                <a16:creationId xmlns:a16="http://schemas.microsoft.com/office/drawing/2014/main" id="{0EC42542-17AE-49D0-91D6-0E2746618F25}"/>
              </a:ext>
            </a:extLst>
          </p:cNvPr>
          <p:cNvSpPr>
            <a:spLocks noGrp="1"/>
          </p:cNvSpPr>
          <p:nvPr/>
        </p:nvSpPr>
        <p:spPr>
          <a:xfrm>
            <a:off x="8420100" y="2495550"/>
            <a:ext cx="2609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Where are we?</a:t>
            </a:r>
          </a:p>
        </p:txBody>
      </p:sp>
      <p:sp>
        <p:nvSpPr>
          <p:cNvPr id="21" name="pyramid-a-0">
            <a:extLst>
              <a:ext uri="{FF2B5EF4-FFF2-40B4-BE49-F238E27FC236}">
                <a16:creationId xmlns:a16="http://schemas.microsoft.com/office/drawing/2014/main" id="{718E24B8-2DFC-4C81-9CD7-7B2C06E25008}"/>
              </a:ext>
            </a:extLst>
          </p:cNvPr>
          <p:cNvSpPr>
            <a:spLocks noGrp="1"/>
          </p:cNvSpPr>
          <p:nvPr/>
        </p:nvSpPr>
        <p:spPr>
          <a:xfrm>
            <a:off x="8420100" y="278130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9 High Level nodes</a:t>
            </a:r>
          </a:p>
        </p:txBody>
      </p:sp>
      <p:sp>
        <p:nvSpPr>
          <p:cNvPr id="22" name="pyramid-dot-1">
            <a:extLst>
              <a:ext uri="{FF2B5EF4-FFF2-40B4-BE49-F238E27FC236}">
                <a16:creationId xmlns:a16="http://schemas.microsoft.com/office/drawing/2014/main" id="{D481DA51-0EBE-44D6-AF8C-2F13BA45BB81}"/>
              </a:ext>
            </a:extLst>
          </p:cNvPr>
          <p:cNvSpPr>
            <a:spLocks noGrp="1"/>
          </p:cNvSpPr>
          <p:nvPr/>
        </p:nvSpPr>
        <p:spPr>
          <a:xfrm>
            <a:off x="7924800" y="3333750"/>
            <a:ext cx="342900" cy="342900"/>
          </a:xfrm>
          <a:prstGeom prst="ellipse">
            <a:avLst/>
          </a:prstGeom>
          <a:solidFill>
            <a:srgbClr val="177A77"/>
          </a:solidFill>
          <a:ln w="0">
            <a:solidFill>
              <a:srgbClr val="177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yramid-dot-text-1">
            <a:extLst>
              <a:ext uri="{FF2B5EF4-FFF2-40B4-BE49-F238E27FC236}">
                <a16:creationId xmlns:a16="http://schemas.microsoft.com/office/drawing/2014/main" id="{EDFCB204-DC72-4903-B617-F8AA95ED1B81}"/>
              </a:ext>
            </a:extLst>
          </p:cNvPr>
          <p:cNvSpPr>
            <a:spLocks noGrp="1"/>
          </p:cNvSpPr>
          <p:nvPr/>
        </p:nvSpPr>
        <p:spPr>
          <a:xfrm>
            <a:off x="7924800" y="3409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L2</a:t>
            </a:r>
          </a:p>
        </p:txBody>
      </p:sp>
      <p:sp>
        <p:nvSpPr>
          <p:cNvPr id="24" name="pyramid-q-1">
            <a:extLst>
              <a:ext uri="{FF2B5EF4-FFF2-40B4-BE49-F238E27FC236}">
                <a16:creationId xmlns:a16="http://schemas.microsoft.com/office/drawing/2014/main" id="{EA022D5B-F7E1-4A0B-834C-BD5BCC78713B}"/>
              </a:ext>
            </a:extLst>
          </p:cNvPr>
          <p:cNvSpPr>
            <a:spLocks noGrp="1"/>
          </p:cNvSpPr>
          <p:nvPr/>
        </p:nvSpPr>
        <p:spPr>
          <a:xfrm>
            <a:off x="8420100" y="3314700"/>
            <a:ext cx="2609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What work happens here?</a:t>
            </a:r>
          </a:p>
        </p:txBody>
      </p:sp>
      <p:sp>
        <p:nvSpPr>
          <p:cNvPr id="25" name="pyramid-a-1">
            <a:extLst>
              <a:ext uri="{FF2B5EF4-FFF2-40B4-BE49-F238E27FC236}">
                <a16:creationId xmlns:a16="http://schemas.microsoft.com/office/drawing/2014/main" id="{E7726188-772A-488B-9789-4C5D9D477AD0}"/>
              </a:ext>
            </a:extLst>
          </p:cNvPr>
          <p:cNvSpPr>
            <a:spLocks noGrp="1"/>
          </p:cNvSpPr>
          <p:nvPr/>
        </p:nvSpPr>
        <p:spPr>
          <a:xfrm>
            <a:off x="8420100" y="360045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16 nodes = 14 lifecycle + 2 controls</a:t>
            </a:r>
          </a:p>
        </p:txBody>
      </p:sp>
      <p:sp>
        <p:nvSpPr>
          <p:cNvPr id="26" name="pyramid-dot-2">
            <a:extLst>
              <a:ext uri="{FF2B5EF4-FFF2-40B4-BE49-F238E27FC236}">
                <a16:creationId xmlns:a16="http://schemas.microsoft.com/office/drawing/2014/main" id="{D74B19EC-2EF1-4DC9-98F5-11D01A9817C1}"/>
              </a:ext>
            </a:extLst>
          </p:cNvPr>
          <p:cNvSpPr>
            <a:spLocks noGrp="1"/>
          </p:cNvSpPr>
          <p:nvPr/>
        </p:nvSpPr>
        <p:spPr>
          <a:xfrm>
            <a:off x="7924800" y="4152900"/>
            <a:ext cx="342900" cy="342900"/>
          </a:xfrm>
          <a:prstGeom prst="ellipse">
            <a:avLst/>
          </a:prstGeom>
          <a:solidFill>
            <a:srgbClr val="7657B5"/>
          </a:solidFill>
          <a:ln w="0">
            <a:solidFill>
              <a:srgbClr val="765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pyramid-dot-text-2">
            <a:extLst>
              <a:ext uri="{FF2B5EF4-FFF2-40B4-BE49-F238E27FC236}">
                <a16:creationId xmlns:a16="http://schemas.microsoft.com/office/drawing/2014/main" id="{549F20FA-25E6-4CBD-91DA-BEA553D03AAF}"/>
              </a:ext>
            </a:extLst>
          </p:cNvPr>
          <p:cNvSpPr>
            <a:spLocks noGrp="1"/>
          </p:cNvSpPr>
          <p:nvPr/>
        </p:nvSpPr>
        <p:spPr>
          <a:xfrm>
            <a:off x="7924800" y="42291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L3</a:t>
            </a:r>
          </a:p>
        </p:txBody>
      </p:sp>
      <p:sp>
        <p:nvSpPr>
          <p:cNvPr id="28" name="pyramid-q-2">
            <a:extLst>
              <a:ext uri="{FF2B5EF4-FFF2-40B4-BE49-F238E27FC236}">
                <a16:creationId xmlns:a16="http://schemas.microsoft.com/office/drawing/2014/main" id="{41F7860C-A0B3-48EF-B6BE-C9BF054C1300}"/>
              </a:ext>
            </a:extLst>
          </p:cNvPr>
          <p:cNvSpPr>
            <a:spLocks noGrp="1"/>
          </p:cNvSpPr>
          <p:nvPr/>
        </p:nvSpPr>
        <p:spPr>
          <a:xfrm>
            <a:off x="8420100" y="4133850"/>
            <a:ext cx="2609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What do I do now?</a:t>
            </a:r>
          </a:p>
        </p:txBody>
      </p:sp>
      <p:sp>
        <p:nvSpPr>
          <p:cNvPr id="29" name="pyramid-a-2">
            <a:extLst>
              <a:ext uri="{FF2B5EF4-FFF2-40B4-BE49-F238E27FC236}">
                <a16:creationId xmlns:a16="http://schemas.microsoft.com/office/drawing/2014/main" id="{3DA11D8E-CF0A-4009-A6AD-69CBB64005D3}"/>
              </a:ext>
            </a:extLst>
          </p:cNvPr>
          <p:cNvSpPr>
            <a:spLocks noGrp="1"/>
          </p:cNvSpPr>
          <p:nvPr/>
        </p:nvSpPr>
        <p:spPr>
          <a:xfrm>
            <a:off x="8420100" y="441960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Execution View: forms + gates</a:t>
            </a:r>
          </a:p>
        </p:txBody>
      </p:sp>
      <p:sp>
        <p:nvSpPr>
          <p:cNvPr id="30" name="pyramid-bottom">
            <a:extLst>
              <a:ext uri="{FF2B5EF4-FFF2-40B4-BE49-F238E27FC236}">
                <a16:creationId xmlns:a16="http://schemas.microsoft.com/office/drawing/2014/main" id="{1FD6B897-1A6E-468B-BD26-EEF3DBD82990}"/>
              </a:ext>
            </a:extLst>
          </p:cNvPr>
          <p:cNvSpPr>
            <a:spLocks noGrp="1"/>
          </p:cNvSpPr>
          <p:nvPr/>
        </p:nvSpPr>
        <p:spPr>
          <a:xfrm>
            <a:off x="1047750" y="5676900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Start in L1 High Level. Drill into L2 Detailed Workflow. Complete L3 Execution View.</a:t>
            </a:r>
          </a:p>
        </p:txBody>
      </p:sp>
      <p:sp>
        <p:nvSpPr>
          <p:cNvPr id="31" name="footer-rule-2">
            <a:extLst>
              <a:ext uri="{FF2B5EF4-FFF2-40B4-BE49-F238E27FC236}">
                <a16:creationId xmlns:a16="http://schemas.microsoft.com/office/drawing/2014/main" id="{5ABF49A1-FC9B-4836-B393-0E50959B5995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footer-page-2">
            <a:extLst>
              <a:ext uri="{FF2B5EF4-FFF2-40B4-BE49-F238E27FC236}">
                <a16:creationId xmlns:a16="http://schemas.microsoft.com/office/drawing/2014/main" id="{328A0DB4-B5E4-4D2D-804B-5B0DA64859FA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091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kicker-3">
            <a:extLst>
              <a:ext uri="{FF2B5EF4-FFF2-40B4-BE49-F238E27FC236}">
                <a16:creationId xmlns:a16="http://schemas.microsoft.com/office/drawing/2014/main" id="{4C6D9556-5A3C-4BAB-9C51-389C9C0F292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L1 HIGH LEVEL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B2CD2E31-5EE7-4131-9B22-C4AC1ED029F1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 dirty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L1 High Level contains the 9 lifecycle nodes.</a:t>
            </a:r>
            <a:r>
              <a:rPr lang="zh-CN" altLang="en-US" sz="2625" b="1" i="0" dirty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2625" b="1" i="0" dirty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CA" altLang="zh-CN" sz="2625" b="1" dirty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[</a:t>
            </a:r>
            <a:r>
              <a:rPr lang="en-CA" altLang="zh-CN" sz="2625" b="1" i="0" dirty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Can be modified]</a:t>
            </a:r>
            <a:endParaRPr sz="2625" b="1" i="0" dirty="0">
              <a:solidFill>
                <a:srgbClr val="0B254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05D1E1C4-8A5C-4D9C-BB5C-30EE1A1F0AA4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11125200" cy="0"/>
          </a:xfrm>
          <a:prstGeom prst="line">
            <a:avLst/>
          </a:prstGeom>
          <a:noFill/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rule-3">
            <a:extLst>
              <a:ext uri="{FF2B5EF4-FFF2-40B4-BE49-F238E27FC236}">
                <a16:creationId xmlns:a16="http://schemas.microsoft.com/office/drawing/2014/main" id="{EFECB54D-956E-40ED-A8D9-7CA9BFFA602E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-page-3">
            <a:extLst>
              <a:ext uri="{FF2B5EF4-FFF2-40B4-BE49-F238E27FC236}">
                <a16:creationId xmlns:a16="http://schemas.microsoft.com/office/drawing/2014/main" id="{C5B938A8-61EE-455A-9B82-4B1998A6C94C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lifecycle-lead">
            <a:extLst>
              <a:ext uri="{FF2B5EF4-FFF2-40B4-BE49-F238E27FC236}">
                <a16:creationId xmlns:a16="http://schemas.microsoft.com/office/drawing/2014/main" id="{3758F8DD-2754-457D-910C-D1F2B15529AA}"/>
              </a:ext>
            </a:extLst>
          </p:cNvPr>
          <p:cNvSpPr>
            <a:spLocks noGrp="1"/>
          </p:cNvSpPr>
          <p:nvPr/>
        </p:nvSpPr>
        <p:spPr>
          <a:xfrm>
            <a:off x="53340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is the map users open first. The L2 Detailed Workflow sits under these exact nodes.</a:t>
            </a:r>
          </a:p>
        </p:txBody>
      </p:sp>
      <p:sp>
        <p:nvSpPr>
          <p:cNvPr id="8" name="lifecycle-connector-0">
            <a:extLst>
              <a:ext uri="{FF2B5EF4-FFF2-40B4-BE49-F238E27FC236}">
                <a16:creationId xmlns:a16="http://schemas.microsoft.com/office/drawing/2014/main" id="{22DC90B7-08DC-456F-AE03-B830E67E62E9}"/>
              </a:ext>
            </a:extLst>
          </p:cNvPr>
          <p:cNvSpPr>
            <a:spLocks noGrp="1"/>
          </p:cNvSpPr>
          <p:nvPr/>
        </p:nvSpPr>
        <p:spPr>
          <a:xfrm>
            <a:off x="3924300" y="2324100"/>
            <a:ext cx="590550" cy="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lifecycle-connector-1">
            <a:extLst>
              <a:ext uri="{FF2B5EF4-FFF2-40B4-BE49-F238E27FC236}">
                <a16:creationId xmlns:a16="http://schemas.microsoft.com/office/drawing/2014/main" id="{017D82E9-3EF2-4AB3-A09E-4952A2CF72D9}"/>
              </a:ext>
            </a:extLst>
          </p:cNvPr>
          <p:cNvSpPr>
            <a:spLocks noGrp="1"/>
          </p:cNvSpPr>
          <p:nvPr/>
        </p:nvSpPr>
        <p:spPr>
          <a:xfrm>
            <a:off x="7677150" y="2324100"/>
            <a:ext cx="590550" cy="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ifecycle-connector-2">
            <a:extLst>
              <a:ext uri="{FF2B5EF4-FFF2-40B4-BE49-F238E27FC236}">
                <a16:creationId xmlns:a16="http://schemas.microsoft.com/office/drawing/2014/main" id="{1A6991EA-6F17-4632-A18D-8810BD98C710}"/>
              </a:ext>
            </a:extLst>
          </p:cNvPr>
          <p:cNvSpPr>
            <a:spLocks noGrp="1"/>
          </p:cNvSpPr>
          <p:nvPr/>
        </p:nvSpPr>
        <p:spPr>
          <a:xfrm>
            <a:off x="9848850" y="2667000"/>
            <a:ext cx="0" cy="43815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ifecycle-connector-3">
            <a:extLst>
              <a:ext uri="{FF2B5EF4-FFF2-40B4-BE49-F238E27FC236}">
                <a16:creationId xmlns:a16="http://schemas.microsoft.com/office/drawing/2014/main" id="{93E9689E-3185-4268-870E-72FAAF3D7982}"/>
              </a:ext>
            </a:extLst>
          </p:cNvPr>
          <p:cNvSpPr>
            <a:spLocks noGrp="1"/>
          </p:cNvSpPr>
          <p:nvPr/>
        </p:nvSpPr>
        <p:spPr>
          <a:xfrm>
            <a:off x="7677150" y="3448050"/>
            <a:ext cx="590550" cy="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ifecycle-connector-4">
            <a:extLst>
              <a:ext uri="{FF2B5EF4-FFF2-40B4-BE49-F238E27FC236}">
                <a16:creationId xmlns:a16="http://schemas.microsoft.com/office/drawing/2014/main" id="{3D01F630-06E0-4C49-9593-4F9BE5382325}"/>
              </a:ext>
            </a:extLst>
          </p:cNvPr>
          <p:cNvSpPr>
            <a:spLocks noGrp="1"/>
          </p:cNvSpPr>
          <p:nvPr/>
        </p:nvSpPr>
        <p:spPr>
          <a:xfrm>
            <a:off x="3924300" y="3448050"/>
            <a:ext cx="590550" cy="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ifecycle-connector-5">
            <a:extLst>
              <a:ext uri="{FF2B5EF4-FFF2-40B4-BE49-F238E27FC236}">
                <a16:creationId xmlns:a16="http://schemas.microsoft.com/office/drawing/2014/main" id="{A7B4CED8-BA1D-4844-A5D2-4A427AF6072A}"/>
              </a:ext>
            </a:extLst>
          </p:cNvPr>
          <p:cNvSpPr>
            <a:spLocks noGrp="1"/>
          </p:cNvSpPr>
          <p:nvPr/>
        </p:nvSpPr>
        <p:spPr>
          <a:xfrm>
            <a:off x="2343150" y="3790950"/>
            <a:ext cx="0" cy="43815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ifecycle-connector-6">
            <a:extLst>
              <a:ext uri="{FF2B5EF4-FFF2-40B4-BE49-F238E27FC236}">
                <a16:creationId xmlns:a16="http://schemas.microsoft.com/office/drawing/2014/main" id="{840B9E51-2529-420E-8415-C93D403D63E2}"/>
              </a:ext>
            </a:extLst>
          </p:cNvPr>
          <p:cNvSpPr>
            <a:spLocks noGrp="1"/>
          </p:cNvSpPr>
          <p:nvPr/>
        </p:nvSpPr>
        <p:spPr>
          <a:xfrm>
            <a:off x="3924300" y="4572000"/>
            <a:ext cx="590550" cy="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ifecycle-connector-7">
            <a:extLst>
              <a:ext uri="{FF2B5EF4-FFF2-40B4-BE49-F238E27FC236}">
                <a16:creationId xmlns:a16="http://schemas.microsoft.com/office/drawing/2014/main" id="{9F3C1577-E92B-4B90-88B6-1276B86166CE}"/>
              </a:ext>
            </a:extLst>
          </p:cNvPr>
          <p:cNvSpPr>
            <a:spLocks noGrp="1"/>
          </p:cNvSpPr>
          <p:nvPr/>
        </p:nvSpPr>
        <p:spPr>
          <a:xfrm>
            <a:off x="7677150" y="4572000"/>
            <a:ext cx="590550" cy="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lifecycle-node-0">
            <a:extLst>
              <a:ext uri="{FF2B5EF4-FFF2-40B4-BE49-F238E27FC236}">
                <a16:creationId xmlns:a16="http://schemas.microsoft.com/office/drawing/2014/main" id="{7D723D21-80A9-43BD-AFBC-1A8EA83C3D2C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3162300" cy="6858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lifecycle-node-number-0">
            <a:extLst>
              <a:ext uri="{FF2B5EF4-FFF2-40B4-BE49-F238E27FC236}">
                <a16:creationId xmlns:a16="http://schemas.microsoft.com/office/drawing/2014/main" id="{04F198F4-4DE8-45D9-AB52-2565CA11253C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8" name="lifecycle-node-label-0">
            <a:extLst>
              <a:ext uri="{FF2B5EF4-FFF2-40B4-BE49-F238E27FC236}">
                <a16:creationId xmlns:a16="http://schemas.microsoft.com/office/drawing/2014/main" id="{B22A440D-5998-4740-9D7F-9818733A7823}"/>
              </a:ext>
            </a:extLst>
          </p:cNvPr>
          <p:cNvSpPr>
            <a:spLocks noGrp="1"/>
          </p:cNvSpPr>
          <p:nvPr/>
        </p:nvSpPr>
        <p:spPr>
          <a:xfrm>
            <a:off x="1428750" y="214312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INITIAL CONTACT</a:t>
            </a:r>
          </a:p>
        </p:txBody>
      </p:sp>
      <p:sp>
        <p:nvSpPr>
          <p:cNvPr id="19" name="lifecycle-node-1">
            <a:extLst>
              <a:ext uri="{FF2B5EF4-FFF2-40B4-BE49-F238E27FC236}">
                <a16:creationId xmlns:a16="http://schemas.microsoft.com/office/drawing/2014/main" id="{2406848C-1464-45F7-8BA9-4AE8CAA569F9}"/>
              </a:ext>
            </a:extLst>
          </p:cNvPr>
          <p:cNvSpPr>
            <a:spLocks noGrp="1"/>
          </p:cNvSpPr>
          <p:nvPr/>
        </p:nvSpPr>
        <p:spPr>
          <a:xfrm>
            <a:off x="4514850" y="1981200"/>
            <a:ext cx="3162300" cy="6858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lifecycle-node-number-1">
            <a:extLst>
              <a:ext uri="{FF2B5EF4-FFF2-40B4-BE49-F238E27FC236}">
                <a16:creationId xmlns:a16="http://schemas.microsoft.com/office/drawing/2014/main" id="{51205F7E-2BD3-46D9-9FAD-44878CAB4A48}"/>
              </a:ext>
            </a:extLst>
          </p:cNvPr>
          <p:cNvSpPr>
            <a:spLocks noGrp="1"/>
          </p:cNvSpPr>
          <p:nvPr/>
        </p:nvSpPr>
        <p:spPr>
          <a:xfrm>
            <a:off x="4667250" y="2209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1" name="lifecycle-node-label-1">
            <a:extLst>
              <a:ext uri="{FF2B5EF4-FFF2-40B4-BE49-F238E27FC236}">
                <a16:creationId xmlns:a16="http://schemas.microsoft.com/office/drawing/2014/main" id="{58F55E56-7DC8-4A48-BE02-B97DACB1A0C9}"/>
              </a:ext>
            </a:extLst>
          </p:cNvPr>
          <p:cNvSpPr>
            <a:spLocks noGrp="1"/>
          </p:cNvSpPr>
          <p:nvPr/>
        </p:nvSpPr>
        <p:spPr>
          <a:xfrm>
            <a:off x="5181600" y="214312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OPPORTUNITY &amp; QUALIFICATION</a:t>
            </a:r>
          </a:p>
        </p:txBody>
      </p:sp>
      <p:sp>
        <p:nvSpPr>
          <p:cNvPr id="22" name="lifecycle-node-2">
            <a:extLst>
              <a:ext uri="{FF2B5EF4-FFF2-40B4-BE49-F238E27FC236}">
                <a16:creationId xmlns:a16="http://schemas.microsoft.com/office/drawing/2014/main" id="{6ABA5DB1-240D-4ADA-80CB-8DFF76EB301A}"/>
              </a:ext>
            </a:extLst>
          </p:cNvPr>
          <p:cNvSpPr>
            <a:spLocks noGrp="1"/>
          </p:cNvSpPr>
          <p:nvPr/>
        </p:nvSpPr>
        <p:spPr>
          <a:xfrm>
            <a:off x="8267700" y="1981200"/>
            <a:ext cx="3162300" cy="685800"/>
          </a:xfrm>
          <a:prstGeom prst="roundRect">
            <a:avLst>
              <a:gd name="adj" fmla="val 11111"/>
            </a:avLst>
          </a:prstGeom>
          <a:solidFill>
            <a:srgbClr val="F8E8D8"/>
          </a:solidFill>
          <a:ln w="9525">
            <a:solidFill>
              <a:srgbClr val="9A5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ifecycle-node-number-2">
            <a:extLst>
              <a:ext uri="{FF2B5EF4-FFF2-40B4-BE49-F238E27FC236}">
                <a16:creationId xmlns:a16="http://schemas.microsoft.com/office/drawing/2014/main" id="{B56ADA82-AE6E-4BF2-B2F9-A985DD9F8901}"/>
              </a:ext>
            </a:extLst>
          </p:cNvPr>
          <p:cNvSpPr>
            <a:spLocks noGrp="1"/>
          </p:cNvSpPr>
          <p:nvPr/>
        </p:nvSpPr>
        <p:spPr>
          <a:xfrm>
            <a:off x="8420100" y="2209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9A5C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A5C2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4" name="lifecycle-node-label-2">
            <a:extLst>
              <a:ext uri="{FF2B5EF4-FFF2-40B4-BE49-F238E27FC236}">
                <a16:creationId xmlns:a16="http://schemas.microsoft.com/office/drawing/2014/main" id="{096C86FC-F3CB-4E9D-9B57-003452973CD4}"/>
              </a:ext>
            </a:extLst>
          </p:cNvPr>
          <p:cNvSpPr>
            <a:spLocks noGrp="1"/>
          </p:cNvSpPr>
          <p:nvPr/>
        </p:nvSpPr>
        <p:spPr>
          <a:xfrm>
            <a:off x="8934450" y="214312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G1 — QUALIFIED &amp; COMMERCIALLY ENGAGED</a:t>
            </a:r>
          </a:p>
        </p:txBody>
      </p:sp>
      <p:sp>
        <p:nvSpPr>
          <p:cNvPr id="25" name="lifecycle-node-3">
            <a:extLst>
              <a:ext uri="{FF2B5EF4-FFF2-40B4-BE49-F238E27FC236}">
                <a16:creationId xmlns:a16="http://schemas.microsoft.com/office/drawing/2014/main" id="{1BF838BE-0BDC-4382-BF88-1A60D0CA8EE7}"/>
              </a:ext>
            </a:extLst>
          </p:cNvPr>
          <p:cNvSpPr>
            <a:spLocks noGrp="1"/>
          </p:cNvSpPr>
          <p:nvPr/>
        </p:nvSpPr>
        <p:spPr>
          <a:xfrm>
            <a:off x="8267700" y="3105150"/>
            <a:ext cx="3162300" cy="6858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9525">
            <a:solidFill>
              <a:srgbClr val="177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lifecycle-node-number-3">
            <a:extLst>
              <a:ext uri="{FF2B5EF4-FFF2-40B4-BE49-F238E27FC236}">
                <a16:creationId xmlns:a16="http://schemas.microsoft.com/office/drawing/2014/main" id="{B3FA957E-58C6-4B96-AD76-D955A713D8D9}"/>
              </a:ext>
            </a:extLst>
          </p:cNvPr>
          <p:cNvSpPr>
            <a:spLocks noGrp="1"/>
          </p:cNvSpPr>
          <p:nvPr/>
        </p:nvSpPr>
        <p:spPr>
          <a:xfrm>
            <a:off x="8420100" y="33337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7" name="lifecycle-node-label-3">
            <a:extLst>
              <a:ext uri="{FF2B5EF4-FFF2-40B4-BE49-F238E27FC236}">
                <a16:creationId xmlns:a16="http://schemas.microsoft.com/office/drawing/2014/main" id="{4685E70C-BC86-41BA-AE1A-14CBF8093BB9}"/>
              </a:ext>
            </a:extLst>
          </p:cNvPr>
          <p:cNvSpPr>
            <a:spLocks noGrp="1"/>
          </p:cNvSpPr>
          <p:nvPr/>
        </p:nvSpPr>
        <p:spPr>
          <a:xfrm>
            <a:off x="8934450" y="326707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G2 — TECHNICAL COMMITMENT</a:t>
            </a:r>
          </a:p>
        </p:txBody>
      </p:sp>
      <p:sp>
        <p:nvSpPr>
          <p:cNvPr id="28" name="lifecycle-node-4">
            <a:extLst>
              <a:ext uri="{FF2B5EF4-FFF2-40B4-BE49-F238E27FC236}">
                <a16:creationId xmlns:a16="http://schemas.microsoft.com/office/drawing/2014/main" id="{AE5AE259-EB53-4D59-B692-2C331D364E84}"/>
              </a:ext>
            </a:extLst>
          </p:cNvPr>
          <p:cNvSpPr>
            <a:spLocks noGrp="1"/>
          </p:cNvSpPr>
          <p:nvPr/>
        </p:nvSpPr>
        <p:spPr>
          <a:xfrm>
            <a:off x="4514850" y="3105150"/>
            <a:ext cx="3162300" cy="6858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9525">
            <a:solidFill>
              <a:srgbClr val="177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lifecycle-node-number-4">
            <a:extLst>
              <a:ext uri="{FF2B5EF4-FFF2-40B4-BE49-F238E27FC236}">
                <a16:creationId xmlns:a16="http://schemas.microsoft.com/office/drawing/2014/main" id="{B1A9E954-56B5-475B-B1F1-507CC7376F38}"/>
              </a:ext>
            </a:extLst>
          </p:cNvPr>
          <p:cNvSpPr>
            <a:spLocks noGrp="1"/>
          </p:cNvSpPr>
          <p:nvPr/>
        </p:nvSpPr>
        <p:spPr>
          <a:xfrm>
            <a:off x="4667250" y="33337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0" name="lifecycle-node-label-4">
            <a:extLst>
              <a:ext uri="{FF2B5EF4-FFF2-40B4-BE49-F238E27FC236}">
                <a16:creationId xmlns:a16="http://schemas.microsoft.com/office/drawing/2014/main" id="{A5E31FAD-FF12-4D1B-89A6-640FFF02762C}"/>
              </a:ext>
            </a:extLst>
          </p:cNvPr>
          <p:cNvSpPr>
            <a:spLocks noGrp="1"/>
          </p:cNvSpPr>
          <p:nvPr/>
        </p:nvSpPr>
        <p:spPr>
          <a:xfrm>
            <a:off x="5181600" y="326707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G3 — PRODUCTION AUTHORIZATION</a:t>
            </a:r>
          </a:p>
        </p:txBody>
      </p:sp>
      <p:sp>
        <p:nvSpPr>
          <p:cNvPr id="31" name="lifecycle-node-5">
            <a:extLst>
              <a:ext uri="{FF2B5EF4-FFF2-40B4-BE49-F238E27FC236}">
                <a16:creationId xmlns:a16="http://schemas.microsoft.com/office/drawing/2014/main" id="{D1FAC529-F54A-444C-8323-9CAB5ECDAD66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3162300" cy="6858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9525">
            <a:solidFill>
              <a:srgbClr val="765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lifecycle-node-number-5">
            <a:extLst>
              <a:ext uri="{FF2B5EF4-FFF2-40B4-BE49-F238E27FC236}">
                <a16:creationId xmlns:a16="http://schemas.microsoft.com/office/drawing/2014/main" id="{14BE74B0-09AD-43E0-980A-AF2F8D9D8FD5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765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657B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3" name="lifecycle-node-label-5">
            <a:extLst>
              <a:ext uri="{FF2B5EF4-FFF2-40B4-BE49-F238E27FC236}">
                <a16:creationId xmlns:a16="http://schemas.microsoft.com/office/drawing/2014/main" id="{953E7B7E-4B9C-400F-B887-C4AF961B0A2F}"/>
              </a:ext>
            </a:extLst>
          </p:cNvPr>
          <p:cNvSpPr>
            <a:spLocks noGrp="1"/>
          </p:cNvSpPr>
          <p:nvPr/>
        </p:nvSpPr>
        <p:spPr>
          <a:xfrm>
            <a:off x="1428750" y="326707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G4 — FACTORY RELEASE</a:t>
            </a:r>
          </a:p>
        </p:txBody>
      </p:sp>
      <p:sp>
        <p:nvSpPr>
          <p:cNvPr id="34" name="lifecycle-node-6">
            <a:extLst>
              <a:ext uri="{FF2B5EF4-FFF2-40B4-BE49-F238E27FC236}">
                <a16:creationId xmlns:a16="http://schemas.microsoft.com/office/drawing/2014/main" id="{2A8F271C-1F53-47E6-8B92-37802C32FDE9}"/>
              </a:ext>
            </a:extLst>
          </p:cNvPr>
          <p:cNvSpPr>
            <a:spLocks noGrp="1"/>
          </p:cNvSpPr>
          <p:nvPr/>
        </p:nvSpPr>
        <p:spPr>
          <a:xfrm>
            <a:off x="762000" y="4229100"/>
            <a:ext cx="3162300" cy="6858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9525">
            <a:solidFill>
              <a:srgbClr val="527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lifecycle-node-number-6">
            <a:extLst>
              <a:ext uri="{FF2B5EF4-FFF2-40B4-BE49-F238E27FC236}">
                <a16:creationId xmlns:a16="http://schemas.microsoft.com/office/drawing/2014/main" id="{B23FEF12-8EA6-44D1-AB7D-71B0603E2723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273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52734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6" name="lifecycle-node-label-6">
            <a:extLst>
              <a:ext uri="{FF2B5EF4-FFF2-40B4-BE49-F238E27FC236}">
                <a16:creationId xmlns:a16="http://schemas.microsoft.com/office/drawing/2014/main" id="{BE4C2E62-F357-404A-9C9F-BEBCF5D65C96}"/>
              </a:ext>
            </a:extLst>
          </p:cNvPr>
          <p:cNvSpPr>
            <a:spLocks noGrp="1"/>
          </p:cNvSpPr>
          <p:nvPr/>
        </p:nvSpPr>
        <p:spPr>
          <a:xfrm>
            <a:off x="1428750" y="439102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G5 — WARRANTY START</a:t>
            </a:r>
          </a:p>
        </p:txBody>
      </p:sp>
      <p:sp>
        <p:nvSpPr>
          <p:cNvPr id="37" name="lifecycle-node-7">
            <a:extLst>
              <a:ext uri="{FF2B5EF4-FFF2-40B4-BE49-F238E27FC236}">
                <a16:creationId xmlns:a16="http://schemas.microsoft.com/office/drawing/2014/main" id="{65E2793F-F6C6-45FC-BC5D-680D78D32BAD}"/>
              </a:ext>
            </a:extLst>
          </p:cNvPr>
          <p:cNvSpPr>
            <a:spLocks noGrp="1"/>
          </p:cNvSpPr>
          <p:nvPr/>
        </p:nvSpPr>
        <p:spPr>
          <a:xfrm>
            <a:off x="4514850" y="4229100"/>
            <a:ext cx="3162300" cy="6858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9525">
            <a:solidFill>
              <a:srgbClr val="527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lifecycle-node-number-7">
            <a:extLst>
              <a:ext uri="{FF2B5EF4-FFF2-40B4-BE49-F238E27FC236}">
                <a16:creationId xmlns:a16="http://schemas.microsoft.com/office/drawing/2014/main" id="{EA327F78-D6A9-44CE-97C6-33A0F2EEA4CF}"/>
              </a:ext>
            </a:extLst>
          </p:cNvPr>
          <p:cNvSpPr>
            <a:spLocks noGrp="1"/>
          </p:cNvSpPr>
          <p:nvPr/>
        </p:nvSpPr>
        <p:spPr>
          <a:xfrm>
            <a:off x="4667250" y="4457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273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52734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9" name="lifecycle-node-label-7">
            <a:extLst>
              <a:ext uri="{FF2B5EF4-FFF2-40B4-BE49-F238E27FC236}">
                <a16:creationId xmlns:a16="http://schemas.microsoft.com/office/drawing/2014/main" id="{A7213FB2-35CB-4733-9EE4-01B4700137D4}"/>
              </a:ext>
            </a:extLst>
          </p:cNvPr>
          <p:cNvSpPr>
            <a:spLocks noGrp="1"/>
          </p:cNvSpPr>
          <p:nvPr/>
        </p:nvSpPr>
        <p:spPr>
          <a:xfrm>
            <a:off x="5181600" y="439102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COMMISSIONING &amp; WARRANTY</a:t>
            </a:r>
          </a:p>
        </p:txBody>
      </p:sp>
      <p:sp>
        <p:nvSpPr>
          <p:cNvPr id="40" name="lifecycle-node-8">
            <a:extLst>
              <a:ext uri="{FF2B5EF4-FFF2-40B4-BE49-F238E27FC236}">
                <a16:creationId xmlns:a16="http://schemas.microsoft.com/office/drawing/2014/main" id="{62F301D0-BC95-4DFA-8EC5-29A1418F2E91}"/>
              </a:ext>
            </a:extLst>
          </p:cNvPr>
          <p:cNvSpPr>
            <a:spLocks noGrp="1"/>
          </p:cNvSpPr>
          <p:nvPr/>
        </p:nvSpPr>
        <p:spPr>
          <a:xfrm>
            <a:off x="8267700" y="4229100"/>
            <a:ext cx="3162300" cy="685800"/>
          </a:xfrm>
          <a:prstGeom prst="roundRect">
            <a:avLst>
              <a:gd name="adj" fmla="val 11111"/>
            </a:avLst>
          </a:prstGeom>
          <a:solidFill>
            <a:srgbClr val="E8EEF5"/>
          </a:solidFill>
          <a:ln w="9525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lifecycle-node-number-8">
            <a:extLst>
              <a:ext uri="{FF2B5EF4-FFF2-40B4-BE49-F238E27FC236}">
                <a16:creationId xmlns:a16="http://schemas.microsoft.com/office/drawing/2014/main" id="{5B99271F-4769-49E2-B4A5-F85DE53288CC}"/>
              </a:ext>
            </a:extLst>
          </p:cNvPr>
          <p:cNvSpPr>
            <a:spLocks noGrp="1"/>
          </p:cNvSpPr>
          <p:nvPr/>
        </p:nvSpPr>
        <p:spPr>
          <a:xfrm>
            <a:off x="8420100" y="4457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2" name="lifecycle-node-label-8">
            <a:extLst>
              <a:ext uri="{FF2B5EF4-FFF2-40B4-BE49-F238E27FC236}">
                <a16:creationId xmlns:a16="http://schemas.microsoft.com/office/drawing/2014/main" id="{760CC69C-6D99-474F-B0EB-6FAA69726DF0}"/>
              </a:ext>
            </a:extLst>
          </p:cNvPr>
          <p:cNvSpPr>
            <a:spLocks noGrp="1"/>
          </p:cNvSpPr>
          <p:nvPr/>
        </p:nvSpPr>
        <p:spPr>
          <a:xfrm>
            <a:off x="8934450" y="4391025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FINAL CLOSE</a:t>
            </a:r>
          </a:p>
        </p:txBody>
      </p:sp>
      <p:sp>
        <p:nvSpPr>
          <p:cNvPr id="43" name="lifecycle-l2-strip">
            <a:extLst>
              <a:ext uri="{FF2B5EF4-FFF2-40B4-BE49-F238E27FC236}">
                <a16:creationId xmlns:a16="http://schemas.microsoft.com/office/drawing/2014/main" id="{5D71F864-2D94-4305-BED5-85A84990F96A}"/>
              </a:ext>
            </a:extLst>
          </p:cNvPr>
          <p:cNvSpPr>
            <a:spLocks noGrp="1"/>
          </p:cNvSpPr>
          <p:nvPr/>
        </p:nvSpPr>
        <p:spPr>
          <a:xfrm>
            <a:off x="1562100" y="5372100"/>
            <a:ext cx="3524250" cy="381000"/>
          </a:xfrm>
          <a:prstGeom prst="roundRect">
            <a:avLst>
              <a:gd name="adj" fmla="val 20000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lifecycle-l3-strip">
            <a:extLst>
              <a:ext uri="{FF2B5EF4-FFF2-40B4-BE49-F238E27FC236}">
                <a16:creationId xmlns:a16="http://schemas.microsoft.com/office/drawing/2014/main" id="{A8C46B79-B905-4956-A34D-AAE273537417}"/>
              </a:ext>
            </a:extLst>
          </p:cNvPr>
          <p:cNvSpPr>
            <a:spLocks noGrp="1"/>
          </p:cNvSpPr>
          <p:nvPr/>
        </p:nvSpPr>
        <p:spPr>
          <a:xfrm>
            <a:off x="5334000" y="5372100"/>
            <a:ext cx="3524250" cy="381000"/>
          </a:xfrm>
          <a:prstGeom prst="roundRect">
            <a:avLst>
              <a:gd name="adj" fmla="val 20000"/>
            </a:avLst>
          </a:prstGeom>
          <a:solidFill>
            <a:srgbClr val="EDE7FA"/>
          </a:solidFill>
          <a:ln w="9525">
            <a:solidFill>
              <a:srgbClr val="765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lifecycle-l2-text">
            <a:extLst>
              <a:ext uri="{FF2B5EF4-FFF2-40B4-BE49-F238E27FC236}">
                <a16:creationId xmlns:a16="http://schemas.microsoft.com/office/drawing/2014/main" id="{25C2BA1D-A4A9-47B3-9B42-0AE7C6F3B347}"/>
              </a:ext>
            </a:extLst>
          </p:cNvPr>
          <p:cNvSpPr>
            <a:spLocks noGrp="1"/>
          </p:cNvSpPr>
          <p:nvPr/>
        </p:nvSpPr>
        <p:spPr>
          <a:xfrm>
            <a:off x="1695450" y="5467350"/>
            <a:ext cx="3257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L2 Detailed Workflow is linked below L1.</a:t>
            </a:r>
          </a:p>
        </p:txBody>
      </p:sp>
      <p:sp>
        <p:nvSpPr>
          <p:cNvPr id="46" name="lifecycle-l3-text">
            <a:extLst>
              <a:ext uri="{FF2B5EF4-FFF2-40B4-BE49-F238E27FC236}">
                <a16:creationId xmlns:a16="http://schemas.microsoft.com/office/drawing/2014/main" id="{AE5595CE-D8F0-44BA-9CA2-3C17A8408D3C}"/>
              </a:ext>
            </a:extLst>
          </p:cNvPr>
          <p:cNvSpPr>
            <a:spLocks noGrp="1"/>
          </p:cNvSpPr>
          <p:nvPr/>
        </p:nvSpPr>
        <p:spPr>
          <a:xfrm>
            <a:off x="5467350" y="5467350"/>
            <a:ext cx="3257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L3 Execution View completes the work.</a:t>
            </a:r>
          </a:p>
        </p:txBody>
      </p:sp>
      <p:sp>
        <p:nvSpPr>
          <p:cNvPr id="47" name="footer-rule-3">
            <a:extLst>
              <a:ext uri="{FF2B5EF4-FFF2-40B4-BE49-F238E27FC236}">
                <a16:creationId xmlns:a16="http://schemas.microsoft.com/office/drawing/2014/main" id="{40EC100D-A5C5-4598-9439-0F237D51AF11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ooter-page-3">
            <a:extLst>
              <a:ext uri="{FF2B5EF4-FFF2-40B4-BE49-F238E27FC236}">
                <a16:creationId xmlns:a16="http://schemas.microsoft.com/office/drawing/2014/main" id="{B5DACBE5-2D04-4B73-A387-88296D731487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155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kicker-4">
            <a:extLst>
              <a:ext uri="{FF2B5EF4-FFF2-40B4-BE49-F238E27FC236}">
                <a16:creationId xmlns:a16="http://schemas.microsoft.com/office/drawing/2014/main" id="{933BBDE4-D28D-4D8D-962C-054B67D6721C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L3 EXECUTION VIEW  /  OPPORTUNITY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625A6783-3FF2-42C2-9E04-2A82E3A0FFA2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L3 Execution View turns Opportunity steps into a controlled decision.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D873E5A8-DB7C-4AD2-AA0E-3467C3E9B0D1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11125200" cy="0"/>
          </a:xfrm>
          <a:prstGeom prst="line">
            <a:avLst/>
          </a:prstGeom>
          <a:noFill/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rule-4">
            <a:extLst>
              <a:ext uri="{FF2B5EF4-FFF2-40B4-BE49-F238E27FC236}">
                <a16:creationId xmlns:a16="http://schemas.microsoft.com/office/drawing/2014/main" id="{050ED172-EB5A-4BDD-AF29-5839C7A0CF84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-page-4">
            <a:extLst>
              <a:ext uri="{FF2B5EF4-FFF2-40B4-BE49-F238E27FC236}">
                <a16:creationId xmlns:a16="http://schemas.microsoft.com/office/drawing/2014/main" id="{D361C1FC-53AF-4F6A-A383-BD9BBBA2C7CC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7" name="screening-lead">
            <a:extLst>
              <a:ext uri="{FF2B5EF4-FFF2-40B4-BE49-F238E27FC236}">
                <a16:creationId xmlns:a16="http://schemas.microsoft.com/office/drawing/2014/main" id="{1F08AD36-E382-4035-8D7E-A13F92144B49}"/>
              </a:ext>
            </a:extLst>
          </p:cNvPr>
          <p:cNvSpPr>
            <a:spLocks noGrp="1"/>
          </p:cNvSpPr>
          <p:nvPr/>
        </p:nvSpPr>
        <p:spPr>
          <a:xfrm>
            <a:off x="53340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Six configured Opportunity steps take the user from Objective Intake to Gate 1 Handoff.</a:t>
            </a:r>
          </a:p>
        </p:txBody>
      </p:sp>
      <p:sp>
        <p:nvSpPr>
          <p:cNvPr id="8" name="screen-step-arrow-1">
            <a:extLst>
              <a:ext uri="{FF2B5EF4-FFF2-40B4-BE49-F238E27FC236}">
                <a16:creationId xmlns:a16="http://schemas.microsoft.com/office/drawing/2014/main" id="{902DF2D9-A633-4645-9B0B-BFC8980B053A}"/>
              </a:ext>
            </a:extLst>
          </p:cNvPr>
          <p:cNvSpPr>
            <a:spLocks noGrp="1"/>
          </p:cNvSpPr>
          <p:nvPr/>
        </p:nvSpPr>
        <p:spPr>
          <a:xfrm>
            <a:off x="3143250" y="2419350"/>
            <a:ext cx="781050" cy="342900"/>
          </a:xfrm>
          <a:prstGeom prst="rightArrow">
            <a:avLst/>
          </a:prstGeom>
          <a:solidFill>
            <a:srgbClr val="E8EEF5"/>
          </a:solidFill>
          <a:ln w="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creen-step-arrow-2">
            <a:extLst>
              <a:ext uri="{FF2B5EF4-FFF2-40B4-BE49-F238E27FC236}">
                <a16:creationId xmlns:a16="http://schemas.microsoft.com/office/drawing/2014/main" id="{DDED2566-7F15-4DAD-9B7E-9E6091D7CED9}"/>
              </a:ext>
            </a:extLst>
          </p:cNvPr>
          <p:cNvSpPr>
            <a:spLocks noGrp="1"/>
          </p:cNvSpPr>
          <p:nvPr/>
        </p:nvSpPr>
        <p:spPr>
          <a:xfrm>
            <a:off x="6943725" y="2419350"/>
            <a:ext cx="781050" cy="342900"/>
          </a:xfrm>
          <a:prstGeom prst="rightArrow">
            <a:avLst/>
          </a:prstGeom>
          <a:solidFill>
            <a:srgbClr val="E8EEF5"/>
          </a:solidFill>
          <a:ln w="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creen-step-arrow-3">
            <a:extLst>
              <a:ext uri="{FF2B5EF4-FFF2-40B4-BE49-F238E27FC236}">
                <a16:creationId xmlns:a16="http://schemas.microsoft.com/office/drawing/2014/main" id="{59B661FC-9CC4-40CB-8B26-7DC3A1E61BF2}"/>
              </a:ext>
            </a:extLst>
          </p:cNvPr>
          <p:cNvSpPr>
            <a:spLocks noGrp="1"/>
          </p:cNvSpPr>
          <p:nvPr/>
        </p:nvSpPr>
        <p:spPr>
          <a:xfrm>
            <a:off x="3143250" y="3714750"/>
            <a:ext cx="781050" cy="342900"/>
          </a:xfrm>
          <a:prstGeom prst="rightArrow">
            <a:avLst/>
          </a:prstGeom>
          <a:solidFill>
            <a:srgbClr val="E8EEF5"/>
          </a:solidFill>
          <a:ln w="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creen-step-arrow-4">
            <a:extLst>
              <a:ext uri="{FF2B5EF4-FFF2-40B4-BE49-F238E27FC236}">
                <a16:creationId xmlns:a16="http://schemas.microsoft.com/office/drawing/2014/main" id="{A1B688D6-3500-4353-8392-C209F6A9942C}"/>
              </a:ext>
            </a:extLst>
          </p:cNvPr>
          <p:cNvSpPr>
            <a:spLocks noGrp="1"/>
          </p:cNvSpPr>
          <p:nvPr/>
        </p:nvSpPr>
        <p:spPr>
          <a:xfrm>
            <a:off x="6943725" y="3714750"/>
            <a:ext cx="781050" cy="342900"/>
          </a:xfrm>
          <a:prstGeom prst="rightArrow">
            <a:avLst/>
          </a:prstGeom>
          <a:solidFill>
            <a:srgbClr val="E8EEF5"/>
          </a:solidFill>
          <a:ln w="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creen-step-0">
            <a:extLst>
              <a:ext uri="{FF2B5EF4-FFF2-40B4-BE49-F238E27FC236}">
                <a16:creationId xmlns:a16="http://schemas.microsoft.com/office/drawing/2014/main" id="{B16DBA2B-ABCD-462E-AD60-6853CAC8A1BB}"/>
              </a:ext>
            </a:extLst>
          </p:cNvPr>
          <p:cNvSpPr>
            <a:spLocks noGrp="1"/>
          </p:cNvSpPr>
          <p:nvPr/>
        </p:nvSpPr>
        <p:spPr>
          <a:xfrm>
            <a:off x="533400" y="20002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creen-step-number-0">
            <a:extLst>
              <a:ext uri="{FF2B5EF4-FFF2-40B4-BE49-F238E27FC236}">
                <a16:creationId xmlns:a16="http://schemas.microsoft.com/office/drawing/2014/main" id="{58BA4E31-90C8-48C3-BFAB-E40E5691503F}"/>
              </a:ext>
            </a:extLst>
          </p:cNvPr>
          <p:cNvSpPr>
            <a:spLocks noGrp="1"/>
          </p:cNvSpPr>
          <p:nvPr/>
        </p:nvSpPr>
        <p:spPr>
          <a:xfrm>
            <a:off x="704850" y="2171700"/>
            <a:ext cx="323850" cy="3238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creen-step-number-text-0">
            <a:extLst>
              <a:ext uri="{FF2B5EF4-FFF2-40B4-BE49-F238E27FC236}">
                <a16:creationId xmlns:a16="http://schemas.microsoft.com/office/drawing/2014/main" id="{11ED1E57-C5A5-4A1A-A567-74625FF5454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screen-step-title-0">
            <a:extLst>
              <a:ext uri="{FF2B5EF4-FFF2-40B4-BE49-F238E27FC236}">
                <a16:creationId xmlns:a16="http://schemas.microsoft.com/office/drawing/2014/main" id="{107ACD48-0916-4A4B-A0C2-D6D8C9F0805F}"/>
              </a:ext>
            </a:extLst>
          </p:cNvPr>
          <p:cNvSpPr>
            <a:spLocks noGrp="1"/>
          </p:cNvSpPr>
          <p:nvPr/>
        </p:nvSpPr>
        <p:spPr>
          <a:xfrm>
            <a:off x="1162050" y="217170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OBJECTIVE INTAKE</a:t>
            </a:r>
          </a:p>
        </p:txBody>
      </p:sp>
      <p:sp>
        <p:nvSpPr>
          <p:cNvPr id="16" name="screen-step-subtitle-0">
            <a:extLst>
              <a:ext uri="{FF2B5EF4-FFF2-40B4-BE49-F238E27FC236}">
                <a16:creationId xmlns:a16="http://schemas.microsoft.com/office/drawing/2014/main" id="{ACED5099-13B6-4056-8184-A189C3BC2D4E}"/>
              </a:ext>
            </a:extLst>
          </p:cNvPr>
          <p:cNvSpPr>
            <a:spLocks noGrp="1"/>
          </p:cNvSpPr>
          <p:nvPr/>
        </p:nvSpPr>
        <p:spPr>
          <a:xfrm>
            <a:off x="1162050" y="24574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Evidence Dossier</a:t>
            </a:r>
          </a:p>
        </p:txBody>
      </p:sp>
      <p:sp>
        <p:nvSpPr>
          <p:cNvPr id="17" name="screen-step-body-0">
            <a:extLst>
              <a:ext uri="{FF2B5EF4-FFF2-40B4-BE49-F238E27FC236}">
                <a16:creationId xmlns:a16="http://schemas.microsoft.com/office/drawing/2014/main" id="{C7055BE9-5578-4D29-8A11-770A2724524A}"/>
              </a:ext>
            </a:extLst>
          </p:cNvPr>
          <p:cNvSpPr>
            <a:spLocks noGrp="1"/>
          </p:cNvSpPr>
          <p:nvPr/>
        </p:nvSpPr>
        <p:spPr>
          <a:xfrm>
            <a:off x="1162050" y="27241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7 mandatory facts</a:t>
            </a:r>
          </a:p>
        </p:txBody>
      </p:sp>
      <p:sp>
        <p:nvSpPr>
          <p:cNvPr id="18" name="screen-step-1">
            <a:extLst>
              <a:ext uri="{FF2B5EF4-FFF2-40B4-BE49-F238E27FC236}">
                <a16:creationId xmlns:a16="http://schemas.microsoft.com/office/drawing/2014/main" id="{2249E561-B911-480F-A991-EB71EEE65B3B}"/>
              </a:ext>
            </a:extLst>
          </p:cNvPr>
          <p:cNvSpPr>
            <a:spLocks noGrp="1"/>
          </p:cNvSpPr>
          <p:nvPr/>
        </p:nvSpPr>
        <p:spPr>
          <a:xfrm>
            <a:off x="4333875" y="20002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8E8D8"/>
          </a:solidFill>
          <a:ln w="9525">
            <a:solidFill>
              <a:srgbClr val="9A5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creen-step-number-1">
            <a:extLst>
              <a:ext uri="{FF2B5EF4-FFF2-40B4-BE49-F238E27FC236}">
                <a16:creationId xmlns:a16="http://schemas.microsoft.com/office/drawing/2014/main" id="{E557CA7D-7C56-42E0-B7E4-1029ED71CC7C}"/>
              </a:ext>
            </a:extLst>
          </p:cNvPr>
          <p:cNvSpPr>
            <a:spLocks noGrp="1"/>
          </p:cNvSpPr>
          <p:nvPr/>
        </p:nvSpPr>
        <p:spPr>
          <a:xfrm>
            <a:off x="4505325" y="2171700"/>
            <a:ext cx="323850" cy="323850"/>
          </a:xfrm>
          <a:prstGeom prst="ellipse">
            <a:avLst/>
          </a:prstGeom>
          <a:solidFill>
            <a:srgbClr val="9A5C24"/>
          </a:solidFill>
          <a:ln w="0">
            <a:solidFill>
              <a:srgbClr val="9A5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creen-step-number-text-1">
            <a:extLst>
              <a:ext uri="{FF2B5EF4-FFF2-40B4-BE49-F238E27FC236}">
                <a16:creationId xmlns:a16="http://schemas.microsoft.com/office/drawing/2014/main" id="{A87033DE-FF89-4A97-B70C-64CF404685C5}"/>
              </a:ext>
            </a:extLst>
          </p:cNvPr>
          <p:cNvSpPr>
            <a:spLocks noGrp="1"/>
          </p:cNvSpPr>
          <p:nvPr/>
        </p:nvSpPr>
        <p:spPr>
          <a:xfrm>
            <a:off x="4505325" y="22383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1" name="screen-step-title-1">
            <a:extLst>
              <a:ext uri="{FF2B5EF4-FFF2-40B4-BE49-F238E27FC236}">
                <a16:creationId xmlns:a16="http://schemas.microsoft.com/office/drawing/2014/main" id="{D00375AD-9031-49DF-BBAA-9A7105AAC18D}"/>
              </a:ext>
            </a:extLst>
          </p:cNvPr>
          <p:cNvSpPr>
            <a:spLocks noGrp="1"/>
          </p:cNvSpPr>
          <p:nvPr/>
        </p:nvSpPr>
        <p:spPr>
          <a:xfrm>
            <a:off x="4962525" y="217170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9A5C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5C24"/>
                </a:solidFill>
                <a:latin typeface="Helvetica Neue"/>
                <a:ea typeface="Helvetica Neue"/>
                <a:cs typeface="Helvetica Neue"/>
              </a:rPr>
              <a:t>HARD BLOCKERS</a:t>
            </a:r>
          </a:p>
        </p:txBody>
      </p:sp>
      <p:sp>
        <p:nvSpPr>
          <p:cNvPr id="22" name="screen-step-subtitle-1">
            <a:extLst>
              <a:ext uri="{FF2B5EF4-FFF2-40B4-BE49-F238E27FC236}">
                <a16:creationId xmlns:a16="http://schemas.microsoft.com/office/drawing/2014/main" id="{DF4EA538-EC1F-4FEC-A53D-604AFB3C5E3C}"/>
              </a:ext>
            </a:extLst>
          </p:cNvPr>
          <p:cNvSpPr>
            <a:spLocks noGrp="1"/>
          </p:cNvSpPr>
          <p:nvPr/>
        </p:nvSpPr>
        <p:spPr>
          <a:xfrm>
            <a:off x="4962525" y="24574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Eligibility Screen</a:t>
            </a:r>
          </a:p>
        </p:txBody>
      </p:sp>
      <p:sp>
        <p:nvSpPr>
          <p:cNvPr id="23" name="screen-step-body-1">
            <a:extLst>
              <a:ext uri="{FF2B5EF4-FFF2-40B4-BE49-F238E27FC236}">
                <a16:creationId xmlns:a16="http://schemas.microsoft.com/office/drawing/2014/main" id="{D007ED6F-3888-49C4-9AC5-6A636B8F5A7F}"/>
              </a:ext>
            </a:extLst>
          </p:cNvPr>
          <p:cNvSpPr>
            <a:spLocks noGrp="1"/>
          </p:cNvSpPr>
          <p:nvPr/>
        </p:nvSpPr>
        <p:spPr>
          <a:xfrm>
            <a:off x="4962525" y="27241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Hard rules first</a:t>
            </a:r>
          </a:p>
        </p:txBody>
      </p:sp>
      <p:sp>
        <p:nvSpPr>
          <p:cNvPr id="24" name="screen-step-2">
            <a:extLst>
              <a:ext uri="{FF2B5EF4-FFF2-40B4-BE49-F238E27FC236}">
                <a16:creationId xmlns:a16="http://schemas.microsoft.com/office/drawing/2014/main" id="{90715F2D-81C3-40FB-BDCF-6A82DF2254D6}"/>
              </a:ext>
            </a:extLst>
          </p:cNvPr>
          <p:cNvSpPr>
            <a:spLocks noGrp="1"/>
          </p:cNvSpPr>
          <p:nvPr/>
        </p:nvSpPr>
        <p:spPr>
          <a:xfrm>
            <a:off x="8134350" y="20002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D9F0EE"/>
          </a:solidFill>
          <a:ln w="9525">
            <a:solidFill>
              <a:srgbClr val="177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creen-step-number-2">
            <a:extLst>
              <a:ext uri="{FF2B5EF4-FFF2-40B4-BE49-F238E27FC236}">
                <a16:creationId xmlns:a16="http://schemas.microsoft.com/office/drawing/2014/main" id="{AA2C64F7-0324-427E-AC01-15676ACEA163}"/>
              </a:ext>
            </a:extLst>
          </p:cNvPr>
          <p:cNvSpPr>
            <a:spLocks noGrp="1"/>
          </p:cNvSpPr>
          <p:nvPr/>
        </p:nvSpPr>
        <p:spPr>
          <a:xfrm>
            <a:off x="8305800" y="2171700"/>
            <a:ext cx="323850" cy="323850"/>
          </a:xfrm>
          <a:prstGeom prst="ellipse">
            <a:avLst/>
          </a:prstGeom>
          <a:solidFill>
            <a:srgbClr val="177A77"/>
          </a:solidFill>
          <a:ln w="0">
            <a:solidFill>
              <a:srgbClr val="177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creen-step-number-text-2">
            <a:extLst>
              <a:ext uri="{FF2B5EF4-FFF2-40B4-BE49-F238E27FC236}">
                <a16:creationId xmlns:a16="http://schemas.microsoft.com/office/drawing/2014/main" id="{6F72A9DD-3189-4913-9DCF-DB94D90AB912}"/>
              </a:ext>
            </a:extLst>
          </p:cNvPr>
          <p:cNvSpPr>
            <a:spLocks noGrp="1"/>
          </p:cNvSpPr>
          <p:nvPr/>
        </p:nvSpPr>
        <p:spPr>
          <a:xfrm>
            <a:off x="8305800" y="22383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7" name="screen-step-title-2">
            <a:extLst>
              <a:ext uri="{FF2B5EF4-FFF2-40B4-BE49-F238E27FC236}">
                <a16:creationId xmlns:a16="http://schemas.microsoft.com/office/drawing/2014/main" id="{88C4B7B3-A573-44DD-B548-FB77CD154887}"/>
              </a:ext>
            </a:extLst>
          </p:cNvPr>
          <p:cNvSpPr>
            <a:spLocks noGrp="1"/>
          </p:cNvSpPr>
          <p:nvPr/>
        </p:nvSpPr>
        <p:spPr>
          <a:xfrm>
            <a:off x="8763000" y="217170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PLAN QUALIFICATION</a:t>
            </a:r>
          </a:p>
        </p:txBody>
      </p:sp>
      <p:sp>
        <p:nvSpPr>
          <p:cNvPr id="28" name="screen-step-subtitle-2">
            <a:extLst>
              <a:ext uri="{FF2B5EF4-FFF2-40B4-BE49-F238E27FC236}">
                <a16:creationId xmlns:a16="http://schemas.microsoft.com/office/drawing/2014/main" id="{14DE70E6-9A10-4E17-AD2B-5E43E004DC8F}"/>
              </a:ext>
            </a:extLst>
          </p:cNvPr>
          <p:cNvSpPr>
            <a:spLocks noGrp="1"/>
          </p:cNvSpPr>
          <p:nvPr/>
        </p:nvSpPr>
        <p:spPr>
          <a:xfrm>
            <a:off x="8763000" y="24574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Class D Readiness</a:t>
            </a:r>
          </a:p>
        </p:txBody>
      </p:sp>
      <p:sp>
        <p:nvSpPr>
          <p:cNvPr id="29" name="screen-step-body-2">
            <a:extLst>
              <a:ext uri="{FF2B5EF4-FFF2-40B4-BE49-F238E27FC236}">
                <a16:creationId xmlns:a16="http://schemas.microsoft.com/office/drawing/2014/main" id="{1A03CBC8-B6CE-4D70-A21B-A0AD9CD07026}"/>
              </a:ext>
            </a:extLst>
          </p:cNvPr>
          <p:cNvSpPr>
            <a:spLocks noGrp="1"/>
          </p:cNvSpPr>
          <p:nvPr/>
        </p:nvSpPr>
        <p:spPr>
          <a:xfrm>
            <a:off x="8763000" y="27241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Plan / Design Basis</a:t>
            </a:r>
          </a:p>
        </p:txBody>
      </p:sp>
      <p:sp>
        <p:nvSpPr>
          <p:cNvPr id="30" name="screen-step-3">
            <a:extLst>
              <a:ext uri="{FF2B5EF4-FFF2-40B4-BE49-F238E27FC236}">
                <a16:creationId xmlns:a16="http://schemas.microsoft.com/office/drawing/2014/main" id="{03384217-A906-4955-A5F4-777CDFB3D6C2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EDE7FA"/>
          </a:solidFill>
          <a:ln w="9525">
            <a:solidFill>
              <a:srgbClr val="765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creen-step-number-3">
            <a:extLst>
              <a:ext uri="{FF2B5EF4-FFF2-40B4-BE49-F238E27FC236}">
                <a16:creationId xmlns:a16="http://schemas.microsoft.com/office/drawing/2014/main" id="{EF26B7BF-DF2F-4F6C-9C81-AF8C7BD40FE2}"/>
              </a:ext>
            </a:extLst>
          </p:cNvPr>
          <p:cNvSpPr>
            <a:spLocks noGrp="1"/>
          </p:cNvSpPr>
          <p:nvPr/>
        </p:nvSpPr>
        <p:spPr>
          <a:xfrm>
            <a:off x="704850" y="3467100"/>
            <a:ext cx="323850" cy="323850"/>
          </a:xfrm>
          <a:prstGeom prst="ellipse">
            <a:avLst/>
          </a:prstGeom>
          <a:solidFill>
            <a:srgbClr val="7657B5"/>
          </a:solidFill>
          <a:ln w="0">
            <a:solidFill>
              <a:srgbClr val="765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creen-step-number-text-3">
            <a:extLst>
              <a:ext uri="{FF2B5EF4-FFF2-40B4-BE49-F238E27FC236}">
                <a16:creationId xmlns:a16="http://schemas.microsoft.com/office/drawing/2014/main" id="{F7FA9678-B31A-4311-8484-A3DE3D2FF30E}"/>
              </a:ext>
            </a:extLst>
          </p:cNvPr>
          <p:cNvSpPr>
            <a:spLocks noGrp="1"/>
          </p:cNvSpPr>
          <p:nvPr/>
        </p:nvSpPr>
        <p:spPr>
          <a:xfrm>
            <a:off x="704850" y="35337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screen-step-title-3">
            <a:extLst>
              <a:ext uri="{FF2B5EF4-FFF2-40B4-BE49-F238E27FC236}">
                <a16:creationId xmlns:a16="http://schemas.microsoft.com/office/drawing/2014/main" id="{42195C86-AB1A-446C-82BD-46D8784867EB}"/>
              </a:ext>
            </a:extLst>
          </p:cNvPr>
          <p:cNvSpPr>
            <a:spLocks noGrp="1"/>
          </p:cNvSpPr>
          <p:nvPr/>
        </p:nvSpPr>
        <p:spPr>
          <a:xfrm>
            <a:off x="1162050" y="346710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765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7657B5"/>
                </a:solidFill>
                <a:latin typeface="Helvetica Neue"/>
                <a:ea typeface="Helvetica Neue"/>
                <a:cs typeface="Helvetica Neue"/>
              </a:rPr>
              <a:t>COMMERCIAL ROUTING</a:t>
            </a:r>
          </a:p>
        </p:txBody>
      </p:sp>
      <p:sp>
        <p:nvSpPr>
          <p:cNvPr id="34" name="screen-step-subtitle-3">
            <a:extLst>
              <a:ext uri="{FF2B5EF4-FFF2-40B4-BE49-F238E27FC236}">
                <a16:creationId xmlns:a16="http://schemas.microsoft.com/office/drawing/2014/main" id="{E5D27BAA-AB32-4110-A13A-FCE6C97647B2}"/>
              </a:ext>
            </a:extLst>
          </p:cNvPr>
          <p:cNvSpPr>
            <a:spLocks noGrp="1"/>
          </p:cNvSpPr>
          <p:nvPr/>
        </p:nvSpPr>
        <p:spPr>
          <a:xfrm>
            <a:off x="1162050" y="37528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Path Assignment</a:t>
            </a:r>
          </a:p>
        </p:txBody>
      </p:sp>
      <p:sp>
        <p:nvSpPr>
          <p:cNvPr id="35" name="screen-step-body-3">
            <a:extLst>
              <a:ext uri="{FF2B5EF4-FFF2-40B4-BE49-F238E27FC236}">
                <a16:creationId xmlns:a16="http://schemas.microsoft.com/office/drawing/2014/main" id="{1937BCE7-65ED-4250-9EFE-AD908C2C5C58}"/>
              </a:ext>
            </a:extLst>
          </p:cNvPr>
          <p:cNvSpPr>
            <a:spLocks noGrp="1"/>
          </p:cNvSpPr>
          <p:nvPr/>
        </p:nvSpPr>
        <p:spPr>
          <a:xfrm>
            <a:off x="1162050" y="40195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Route is selected</a:t>
            </a:r>
          </a:p>
        </p:txBody>
      </p:sp>
      <p:sp>
        <p:nvSpPr>
          <p:cNvPr id="36" name="screen-step-4">
            <a:extLst>
              <a:ext uri="{FF2B5EF4-FFF2-40B4-BE49-F238E27FC236}">
                <a16:creationId xmlns:a16="http://schemas.microsoft.com/office/drawing/2014/main" id="{D252FDB9-0067-4EDD-8141-5543AC9A17DD}"/>
              </a:ext>
            </a:extLst>
          </p:cNvPr>
          <p:cNvSpPr>
            <a:spLocks noGrp="1"/>
          </p:cNvSpPr>
          <p:nvPr/>
        </p:nvSpPr>
        <p:spPr>
          <a:xfrm>
            <a:off x="4333875" y="32956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8E6"/>
          </a:solidFill>
          <a:ln w="9525">
            <a:solidFill>
              <a:srgbClr val="7A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creen-step-number-4">
            <a:extLst>
              <a:ext uri="{FF2B5EF4-FFF2-40B4-BE49-F238E27FC236}">
                <a16:creationId xmlns:a16="http://schemas.microsoft.com/office/drawing/2014/main" id="{CF258BD2-940E-4F86-A1B8-78F1B7D2C754}"/>
              </a:ext>
            </a:extLst>
          </p:cNvPr>
          <p:cNvSpPr>
            <a:spLocks noGrp="1"/>
          </p:cNvSpPr>
          <p:nvPr/>
        </p:nvSpPr>
        <p:spPr>
          <a:xfrm>
            <a:off x="4505325" y="3467100"/>
            <a:ext cx="323850" cy="323850"/>
          </a:xfrm>
          <a:prstGeom prst="ellipse">
            <a:avLst/>
          </a:prstGeom>
          <a:solidFill>
            <a:srgbClr val="7A5A00"/>
          </a:solidFill>
          <a:ln w="0">
            <a:solidFill>
              <a:srgbClr val="7A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creen-step-number-text-4">
            <a:extLst>
              <a:ext uri="{FF2B5EF4-FFF2-40B4-BE49-F238E27FC236}">
                <a16:creationId xmlns:a16="http://schemas.microsoft.com/office/drawing/2014/main" id="{C39D4348-D3AA-45FD-9DA2-8454C65C36F5}"/>
              </a:ext>
            </a:extLst>
          </p:cNvPr>
          <p:cNvSpPr>
            <a:spLocks noGrp="1"/>
          </p:cNvSpPr>
          <p:nvPr/>
        </p:nvSpPr>
        <p:spPr>
          <a:xfrm>
            <a:off x="4505325" y="35337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9" name="screen-step-title-4">
            <a:extLst>
              <a:ext uri="{FF2B5EF4-FFF2-40B4-BE49-F238E27FC236}">
                <a16:creationId xmlns:a16="http://schemas.microsoft.com/office/drawing/2014/main" id="{4BD56832-121F-4DC0-A7EA-E2AC9C0004F1}"/>
              </a:ext>
            </a:extLst>
          </p:cNvPr>
          <p:cNvSpPr>
            <a:spLocks noGrp="1"/>
          </p:cNvSpPr>
          <p:nvPr/>
        </p:nvSpPr>
        <p:spPr>
          <a:xfrm>
            <a:off x="4962525" y="346710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7A5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7A5A00"/>
                </a:solidFill>
                <a:latin typeface="Helvetica Neue"/>
                <a:ea typeface="Helvetica Neue"/>
                <a:cs typeface="Helvetica Neue"/>
              </a:rPr>
              <a:t>CEO SIGN-OFF</a:t>
            </a:r>
          </a:p>
        </p:txBody>
      </p:sp>
      <p:sp>
        <p:nvSpPr>
          <p:cNvPr id="40" name="screen-step-subtitle-4">
            <a:extLst>
              <a:ext uri="{FF2B5EF4-FFF2-40B4-BE49-F238E27FC236}">
                <a16:creationId xmlns:a16="http://schemas.microsoft.com/office/drawing/2014/main" id="{E159220D-1BA4-4073-9D5F-A627360991CA}"/>
              </a:ext>
            </a:extLst>
          </p:cNvPr>
          <p:cNvSpPr>
            <a:spLocks noGrp="1"/>
          </p:cNvSpPr>
          <p:nvPr/>
        </p:nvSpPr>
        <p:spPr>
          <a:xfrm>
            <a:off x="4962525" y="37528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LOI Governance</a:t>
            </a:r>
          </a:p>
        </p:txBody>
      </p:sp>
      <p:sp>
        <p:nvSpPr>
          <p:cNvPr id="41" name="screen-step-body-4">
            <a:extLst>
              <a:ext uri="{FF2B5EF4-FFF2-40B4-BE49-F238E27FC236}">
                <a16:creationId xmlns:a16="http://schemas.microsoft.com/office/drawing/2014/main" id="{953A1807-1F8E-4E1A-BBEF-28EFD3165E91}"/>
              </a:ext>
            </a:extLst>
          </p:cNvPr>
          <p:cNvSpPr>
            <a:spLocks noGrp="1"/>
          </p:cNvSpPr>
          <p:nvPr/>
        </p:nvSpPr>
        <p:spPr>
          <a:xfrm>
            <a:off x="4962525" y="40195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Only for governed LOI</a:t>
            </a:r>
          </a:p>
        </p:txBody>
      </p:sp>
      <p:sp>
        <p:nvSpPr>
          <p:cNvPr id="42" name="screen-step-5">
            <a:extLst>
              <a:ext uri="{FF2B5EF4-FFF2-40B4-BE49-F238E27FC236}">
                <a16:creationId xmlns:a16="http://schemas.microsoft.com/office/drawing/2014/main" id="{DEAE9FD2-6953-4057-B39A-3BE194357922}"/>
              </a:ext>
            </a:extLst>
          </p:cNvPr>
          <p:cNvSpPr>
            <a:spLocks noGrp="1"/>
          </p:cNvSpPr>
          <p:nvPr/>
        </p:nvSpPr>
        <p:spPr>
          <a:xfrm>
            <a:off x="8134350" y="32956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E5F0E2"/>
          </a:solidFill>
          <a:ln w="9525">
            <a:solidFill>
              <a:srgbClr val="527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creen-step-number-5">
            <a:extLst>
              <a:ext uri="{FF2B5EF4-FFF2-40B4-BE49-F238E27FC236}">
                <a16:creationId xmlns:a16="http://schemas.microsoft.com/office/drawing/2014/main" id="{8118C87A-E37D-49CA-8CA4-DD1FC4147255}"/>
              </a:ext>
            </a:extLst>
          </p:cNvPr>
          <p:cNvSpPr>
            <a:spLocks noGrp="1"/>
          </p:cNvSpPr>
          <p:nvPr/>
        </p:nvSpPr>
        <p:spPr>
          <a:xfrm>
            <a:off x="8305800" y="3467100"/>
            <a:ext cx="323850" cy="323850"/>
          </a:xfrm>
          <a:prstGeom prst="ellipse">
            <a:avLst/>
          </a:prstGeom>
          <a:solidFill>
            <a:srgbClr val="52734D"/>
          </a:solidFill>
          <a:ln w="0">
            <a:solidFill>
              <a:srgbClr val="527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creen-step-number-text-5">
            <a:extLst>
              <a:ext uri="{FF2B5EF4-FFF2-40B4-BE49-F238E27FC236}">
                <a16:creationId xmlns:a16="http://schemas.microsoft.com/office/drawing/2014/main" id="{FF21518A-82AC-46D7-90BE-94118DFABEB8}"/>
              </a:ext>
            </a:extLst>
          </p:cNvPr>
          <p:cNvSpPr>
            <a:spLocks noGrp="1"/>
          </p:cNvSpPr>
          <p:nvPr/>
        </p:nvSpPr>
        <p:spPr>
          <a:xfrm>
            <a:off x="8305800" y="35337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5" name="screen-step-title-5">
            <a:extLst>
              <a:ext uri="{FF2B5EF4-FFF2-40B4-BE49-F238E27FC236}">
                <a16:creationId xmlns:a16="http://schemas.microsoft.com/office/drawing/2014/main" id="{F23CC414-139C-4EE8-ACCD-57E894EC86AE}"/>
              </a:ext>
            </a:extLst>
          </p:cNvPr>
          <p:cNvSpPr>
            <a:spLocks noGrp="1"/>
          </p:cNvSpPr>
          <p:nvPr/>
        </p:nvSpPr>
        <p:spPr>
          <a:xfrm>
            <a:off x="8763000" y="346710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5273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734D"/>
                </a:solidFill>
                <a:latin typeface="Helvetica Neue"/>
                <a:ea typeface="Helvetica Neue"/>
                <a:cs typeface="Helvetica Neue"/>
              </a:rPr>
              <a:t>GATE 1 HANDOFF</a:t>
            </a:r>
          </a:p>
        </p:txBody>
      </p:sp>
      <p:sp>
        <p:nvSpPr>
          <p:cNvPr id="46" name="screen-step-subtitle-5">
            <a:extLst>
              <a:ext uri="{FF2B5EF4-FFF2-40B4-BE49-F238E27FC236}">
                <a16:creationId xmlns:a16="http://schemas.microsoft.com/office/drawing/2014/main" id="{280D5308-5803-4B9A-AAF6-847260B0BEF8}"/>
              </a:ext>
            </a:extLst>
          </p:cNvPr>
          <p:cNvSpPr>
            <a:spLocks noGrp="1"/>
          </p:cNvSpPr>
          <p:nvPr/>
        </p:nvSpPr>
        <p:spPr>
          <a:xfrm>
            <a:off x="8763000" y="37528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Dossier Package</a:t>
            </a:r>
          </a:p>
        </p:txBody>
      </p:sp>
      <p:sp>
        <p:nvSpPr>
          <p:cNvPr id="47" name="screen-step-body-5">
            <a:extLst>
              <a:ext uri="{FF2B5EF4-FFF2-40B4-BE49-F238E27FC236}">
                <a16:creationId xmlns:a16="http://schemas.microsoft.com/office/drawing/2014/main" id="{64F065A8-92D2-4317-9048-BB40E37C71D7}"/>
              </a:ext>
            </a:extLst>
          </p:cNvPr>
          <p:cNvSpPr>
            <a:spLocks noGrp="1"/>
          </p:cNvSpPr>
          <p:nvPr/>
        </p:nvSpPr>
        <p:spPr>
          <a:xfrm>
            <a:off x="8763000" y="4019550"/>
            <a:ext cx="2400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Authorized engagement</a:t>
            </a:r>
          </a:p>
        </p:txBody>
      </p:sp>
      <p:sp>
        <p:nvSpPr>
          <p:cNvPr id="48" name="screen-route">
            <a:extLst>
              <a:ext uri="{FF2B5EF4-FFF2-40B4-BE49-F238E27FC236}">
                <a16:creationId xmlns:a16="http://schemas.microsoft.com/office/drawing/2014/main" id="{B66709B9-A6C6-4734-B8BF-3A18362C95A3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10420350" cy="704850"/>
          </a:xfrm>
          <a:prstGeom prst="roundRect">
            <a:avLst>
              <a:gd name="adj" fmla="val 10811"/>
            </a:avLst>
          </a:prstGeom>
          <a:solidFill>
            <a:srgbClr val="F2F4F7"/>
          </a:solidFill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creen-route-title">
            <a:extLst>
              <a:ext uri="{FF2B5EF4-FFF2-40B4-BE49-F238E27FC236}">
                <a16:creationId xmlns:a16="http://schemas.microsoft.com/office/drawing/2014/main" id="{6D9C91C5-3835-4BDF-BDAA-A78394491A39}"/>
              </a:ext>
            </a:extLst>
          </p:cNvPr>
          <p:cNvSpPr>
            <a:spLocks noGrp="1"/>
          </p:cNvSpPr>
          <p:nvPr/>
        </p:nvSpPr>
        <p:spPr>
          <a:xfrm>
            <a:off x="1238250" y="4962525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ROUTE OUTPUTS</a:t>
            </a:r>
          </a:p>
        </p:txBody>
      </p:sp>
      <p:sp>
        <p:nvSpPr>
          <p:cNvPr id="50" name="screen-route-body">
            <a:extLst>
              <a:ext uri="{FF2B5EF4-FFF2-40B4-BE49-F238E27FC236}">
                <a16:creationId xmlns:a16="http://schemas.microsoft.com/office/drawing/2014/main" id="{09D8D450-F3B9-42AE-AB0F-53915381274C}"/>
              </a:ext>
            </a:extLst>
          </p:cNvPr>
          <p:cNvSpPr>
            <a:spLocks noGrp="1"/>
          </p:cNvSpPr>
          <p:nvPr/>
        </p:nvSpPr>
        <p:spPr>
          <a:xfrm>
            <a:off x="3028950" y="4953000"/>
            <a:ext cx="802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 D  ·  Consultation / CSA  ·  PCS  ·  Governed LOI  ·  Technical Review  ·  Stop / Exception</a:t>
            </a:r>
          </a:p>
        </p:txBody>
      </p:sp>
      <p:sp>
        <p:nvSpPr>
          <p:cNvPr id="51" name="screen-hard-rule-callout">
            <a:extLst>
              <a:ext uri="{FF2B5EF4-FFF2-40B4-BE49-F238E27FC236}">
                <a16:creationId xmlns:a16="http://schemas.microsoft.com/office/drawing/2014/main" id="{4FC8CC6D-4185-4640-A7DA-DE27B6EA3096}"/>
              </a:ext>
            </a:extLst>
          </p:cNvPr>
          <p:cNvSpPr>
            <a:spLocks noGrp="1"/>
          </p:cNvSpPr>
          <p:nvPr/>
        </p:nvSpPr>
        <p:spPr>
          <a:xfrm>
            <a:off x="990600" y="5638800"/>
            <a:ext cx="10420350" cy="381000"/>
          </a:xfrm>
          <a:prstGeom prst="roundRect">
            <a:avLst>
              <a:gd name="adj" fmla="val 20000"/>
            </a:avLst>
          </a:prstGeom>
          <a:solidFill>
            <a:srgbClr val="F9E2E0"/>
          </a:solidFill>
          <a:ln w="9525">
            <a:solidFill>
              <a:srgbClr val="A23C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creen-hard-rule-text">
            <a:extLst>
              <a:ext uri="{FF2B5EF4-FFF2-40B4-BE49-F238E27FC236}">
                <a16:creationId xmlns:a16="http://schemas.microsoft.com/office/drawing/2014/main" id="{B4D2B147-2F86-455A-AC24-13E51EC0A11A}"/>
              </a:ext>
            </a:extLst>
          </p:cNvPr>
          <p:cNvSpPr>
            <a:spLocks noGrp="1"/>
          </p:cNvSpPr>
          <p:nvPr/>
        </p:nvSpPr>
        <p:spPr>
          <a:xfrm>
            <a:off x="1257300" y="5734050"/>
            <a:ext cx="9886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ctr">
              <a:defRPr sz="1275" b="1" i="0">
                <a:solidFill>
                  <a:srgbClr val="A23C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23C37"/>
                </a:solidFill>
                <a:latin typeface="Helvetica Neue"/>
                <a:ea typeface="Helvetica Neue"/>
                <a:cs typeface="Helvetica Neue"/>
              </a:rPr>
              <a:t>Hard rules run first: a score never overrides a confirmed No-Go or an unresolved hard Hold.</a:t>
            </a:r>
          </a:p>
        </p:txBody>
      </p:sp>
      <p:sp>
        <p:nvSpPr>
          <p:cNvPr id="53" name="footer-rule-4">
            <a:extLst>
              <a:ext uri="{FF2B5EF4-FFF2-40B4-BE49-F238E27FC236}">
                <a16:creationId xmlns:a16="http://schemas.microsoft.com/office/drawing/2014/main" id="{3D132784-150D-4DDE-A159-A0ECAD1C6F0E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ooter-page-4">
            <a:extLst>
              <a:ext uri="{FF2B5EF4-FFF2-40B4-BE49-F238E27FC236}">
                <a16:creationId xmlns:a16="http://schemas.microsoft.com/office/drawing/2014/main" id="{B7E920C7-AD5F-4800-988E-4B026C54742D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97436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kicker-5">
            <a:extLst>
              <a:ext uri="{FF2B5EF4-FFF2-40B4-BE49-F238E27FC236}">
                <a16:creationId xmlns:a16="http://schemas.microsoft.com/office/drawing/2014/main" id="{07A31248-4F34-449B-BADE-8A233956D2C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L3 EXECUTION VIEW  /  READINESS SCORE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988DBE78-BE5D-48CE-A852-85835CB45E98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L3 Execution View shows the score—but hard rules still decide.</a:t>
            </a:r>
          </a:p>
        </p:txBody>
      </p:sp>
      <p:sp>
        <p:nvSpPr>
          <p:cNvPr id="3" name="title-rule-5">
            <a:extLst>
              <a:ext uri="{FF2B5EF4-FFF2-40B4-BE49-F238E27FC236}">
                <a16:creationId xmlns:a16="http://schemas.microsoft.com/office/drawing/2014/main" id="{4273CA70-4E95-497D-B5A0-BED4E18C765A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11125200" cy="0"/>
          </a:xfrm>
          <a:prstGeom prst="line">
            <a:avLst/>
          </a:prstGeom>
          <a:noFill/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rule-5">
            <a:extLst>
              <a:ext uri="{FF2B5EF4-FFF2-40B4-BE49-F238E27FC236}">
                <a16:creationId xmlns:a16="http://schemas.microsoft.com/office/drawing/2014/main" id="{0004D3A2-E89C-4595-88C0-5A21E7CE7ACC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label-5">
            <a:extLst>
              <a:ext uri="{FF2B5EF4-FFF2-40B4-BE49-F238E27FC236}">
                <a16:creationId xmlns:a16="http://schemas.microsoft.com/office/drawing/2014/main" id="{54759643-FBA2-43FB-B8D8-8466353A0B67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PROFAB / ELEVATOR PITCH</a:t>
            </a:r>
          </a:p>
        </p:txBody>
      </p:sp>
      <p:sp>
        <p:nvSpPr>
          <p:cNvPr id="6" name="footer-page-5">
            <a:extLst>
              <a:ext uri="{FF2B5EF4-FFF2-40B4-BE49-F238E27FC236}">
                <a16:creationId xmlns:a16="http://schemas.microsoft.com/office/drawing/2014/main" id="{44C0890B-8935-47B0-A518-96A06D39A3FD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7" name="score-lead">
            <a:extLst>
              <a:ext uri="{FF2B5EF4-FFF2-40B4-BE49-F238E27FC236}">
                <a16:creationId xmlns:a16="http://schemas.microsoft.com/office/drawing/2014/main" id="{0358F6A7-E213-4D41-BA77-BC424F8F71E4}"/>
              </a:ext>
            </a:extLst>
          </p:cNvPr>
          <p:cNvSpPr>
            <a:spLocks noGrp="1"/>
          </p:cNvSpPr>
          <p:nvPr/>
        </p:nvSpPr>
        <p:spPr>
          <a:xfrm>
            <a:off x="533400" y="13906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score is a transparent readiness signal shown alongside the route, status, risks, and required actions.</a:t>
            </a:r>
          </a:p>
        </p:txBody>
      </p:sp>
      <p:sp>
        <p:nvSpPr>
          <p:cNvPr id="8" name="score-formula">
            <a:extLst>
              <a:ext uri="{FF2B5EF4-FFF2-40B4-BE49-F238E27FC236}">
                <a16:creationId xmlns:a16="http://schemas.microsoft.com/office/drawing/2014/main" id="{445CDCEC-AF07-4A1D-AA0A-AF15AE8CC817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477000" cy="476250"/>
          </a:xfrm>
          <a:prstGeom prst="roundRect">
            <a:avLst>
              <a:gd name="adj" fmla="val 16000"/>
            </a:avLst>
          </a:prstGeom>
          <a:solidFill>
            <a:srgbClr val="E8EEF5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core-formula-text">
            <a:extLst>
              <a:ext uri="{FF2B5EF4-FFF2-40B4-BE49-F238E27FC236}">
                <a16:creationId xmlns:a16="http://schemas.microsoft.com/office/drawing/2014/main" id="{3A8B32BF-7382-4E61-AC8A-9A78CA5AE32B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/>
          </a:bodyPr>
          <a:lstStyle/>
          <a:p>
            <a:pPr algn="ctr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Total score = Σ (dimension weight × evidence level)</a:t>
            </a:r>
          </a:p>
        </p:txBody>
      </p:sp>
      <p:sp>
        <p:nvSpPr>
          <p:cNvPr id="10" name="score-evidence">
            <a:extLst>
              <a:ext uri="{FF2B5EF4-FFF2-40B4-BE49-F238E27FC236}">
                <a16:creationId xmlns:a16="http://schemas.microsoft.com/office/drawing/2014/main" id="{07A62758-9671-4F2F-B5EE-F0EB49CED335}"/>
              </a:ext>
            </a:extLst>
          </p:cNvPr>
          <p:cNvSpPr>
            <a:spLocks noGrp="1"/>
          </p:cNvSpPr>
          <p:nvPr/>
        </p:nvSpPr>
        <p:spPr>
          <a:xfrm>
            <a:off x="533400" y="234315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 i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Evidence levels: 100%  ·  50%  ·  25%  ·  0%</a:t>
            </a:r>
          </a:p>
        </p:txBody>
      </p:sp>
      <p:sp>
        <p:nvSpPr>
          <p:cNvPr id="11" name="score-label-0">
            <a:extLst>
              <a:ext uri="{FF2B5EF4-FFF2-40B4-BE49-F238E27FC236}">
                <a16:creationId xmlns:a16="http://schemas.microsoft.com/office/drawing/2014/main" id="{B52A21BC-2CC7-4B31-8791-C999A70EA6BD}"/>
              </a:ext>
            </a:extLst>
          </p:cNvPr>
          <p:cNvSpPr>
            <a:spLocks noGrp="1"/>
          </p:cNvSpPr>
          <p:nvPr/>
        </p:nvSpPr>
        <p:spPr>
          <a:xfrm>
            <a:off x="533400" y="28098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</p:txBody>
      </p:sp>
      <p:sp>
        <p:nvSpPr>
          <p:cNvPr id="12" name="score-base-0">
            <a:extLst>
              <a:ext uri="{FF2B5EF4-FFF2-40B4-BE49-F238E27FC236}">
                <a16:creationId xmlns:a16="http://schemas.microsoft.com/office/drawing/2014/main" id="{46F052A4-2EC8-49D6-BE12-FA32A5DD6FD6}"/>
              </a:ext>
            </a:extLst>
          </p:cNvPr>
          <p:cNvSpPr>
            <a:spLocks noGrp="1"/>
          </p:cNvSpPr>
          <p:nvPr/>
        </p:nvSpPr>
        <p:spPr>
          <a:xfrm>
            <a:off x="2305050" y="280035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F2F4F7"/>
          </a:solidFill>
          <a:ln w="0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core-fill-0">
            <a:extLst>
              <a:ext uri="{FF2B5EF4-FFF2-40B4-BE49-F238E27FC236}">
                <a16:creationId xmlns:a16="http://schemas.microsoft.com/office/drawing/2014/main" id="{43A07895-F9F9-488D-B2F6-4A3A72DFBE2B}"/>
              </a:ext>
            </a:extLst>
          </p:cNvPr>
          <p:cNvSpPr>
            <a:spLocks noGrp="1"/>
          </p:cNvSpPr>
          <p:nvPr/>
        </p:nvSpPr>
        <p:spPr>
          <a:xfrm>
            <a:off x="2305050" y="280035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core-weight-0">
            <a:extLst>
              <a:ext uri="{FF2B5EF4-FFF2-40B4-BE49-F238E27FC236}">
                <a16:creationId xmlns:a16="http://schemas.microsoft.com/office/drawing/2014/main" id="{753BCDFC-5CE7-4CAD-BED5-128CB39B8273}"/>
              </a:ext>
            </a:extLst>
          </p:cNvPr>
          <p:cNvSpPr>
            <a:spLocks noGrp="1"/>
          </p:cNvSpPr>
          <p:nvPr/>
        </p:nvSpPr>
        <p:spPr>
          <a:xfrm>
            <a:off x="5600700" y="27813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15 pts</a:t>
            </a:r>
          </a:p>
        </p:txBody>
      </p:sp>
      <p:sp>
        <p:nvSpPr>
          <p:cNvPr id="15" name="score-label-1">
            <a:extLst>
              <a:ext uri="{FF2B5EF4-FFF2-40B4-BE49-F238E27FC236}">
                <a16:creationId xmlns:a16="http://schemas.microsoft.com/office/drawing/2014/main" id="{38079C3C-BE3B-440E-8652-5B9A2F7BD912}"/>
              </a:ext>
            </a:extLst>
          </p:cNvPr>
          <p:cNvSpPr>
            <a:spLocks noGrp="1"/>
          </p:cNvSpPr>
          <p:nvPr/>
        </p:nvSpPr>
        <p:spPr>
          <a:xfrm>
            <a:off x="533400" y="317182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Project scale</a:t>
            </a:r>
          </a:p>
        </p:txBody>
      </p:sp>
      <p:sp>
        <p:nvSpPr>
          <p:cNvPr id="16" name="score-base-1">
            <a:extLst>
              <a:ext uri="{FF2B5EF4-FFF2-40B4-BE49-F238E27FC236}">
                <a16:creationId xmlns:a16="http://schemas.microsoft.com/office/drawing/2014/main" id="{C868D356-FDE3-4D56-86B5-E425B66A6106}"/>
              </a:ext>
            </a:extLst>
          </p:cNvPr>
          <p:cNvSpPr>
            <a:spLocks noGrp="1"/>
          </p:cNvSpPr>
          <p:nvPr/>
        </p:nvSpPr>
        <p:spPr>
          <a:xfrm>
            <a:off x="2305050" y="316230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F2F4F7"/>
          </a:solidFill>
          <a:ln w="0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core-fill-1">
            <a:extLst>
              <a:ext uri="{FF2B5EF4-FFF2-40B4-BE49-F238E27FC236}">
                <a16:creationId xmlns:a16="http://schemas.microsoft.com/office/drawing/2014/main" id="{E3A6BD2C-C72B-4BA8-B8D6-567F48940280}"/>
              </a:ext>
            </a:extLst>
          </p:cNvPr>
          <p:cNvSpPr>
            <a:spLocks noGrp="1"/>
          </p:cNvSpPr>
          <p:nvPr/>
        </p:nvSpPr>
        <p:spPr>
          <a:xfrm>
            <a:off x="2305050" y="316230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core-weight-1">
            <a:extLst>
              <a:ext uri="{FF2B5EF4-FFF2-40B4-BE49-F238E27FC236}">
                <a16:creationId xmlns:a16="http://schemas.microsoft.com/office/drawing/2014/main" id="{405A544D-45B1-4CA3-9F0F-CC68CDC32F15}"/>
              </a:ext>
            </a:extLst>
          </p:cNvPr>
          <p:cNvSpPr>
            <a:spLocks noGrp="1"/>
          </p:cNvSpPr>
          <p:nvPr/>
        </p:nvSpPr>
        <p:spPr>
          <a:xfrm>
            <a:off x="5600700" y="3143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15 pts</a:t>
            </a:r>
          </a:p>
        </p:txBody>
      </p:sp>
      <p:sp>
        <p:nvSpPr>
          <p:cNvPr id="19" name="score-label-2">
            <a:extLst>
              <a:ext uri="{FF2B5EF4-FFF2-40B4-BE49-F238E27FC236}">
                <a16:creationId xmlns:a16="http://schemas.microsoft.com/office/drawing/2014/main" id="{E92E5ADD-0B39-40B1-B6DB-A186AF447F70}"/>
              </a:ext>
            </a:extLst>
          </p:cNvPr>
          <p:cNvSpPr>
            <a:spLocks noGrp="1"/>
          </p:cNvSpPr>
          <p:nvPr/>
        </p:nvSpPr>
        <p:spPr>
          <a:xfrm>
            <a:off x="533400" y="35337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Site</a:t>
            </a:r>
          </a:p>
        </p:txBody>
      </p:sp>
      <p:sp>
        <p:nvSpPr>
          <p:cNvPr id="20" name="score-base-2">
            <a:extLst>
              <a:ext uri="{FF2B5EF4-FFF2-40B4-BE49-F238E27FC236}">
                <a16:creationId xmlns:a16="http://schemas.microsoft.com/office/drawing/2014/main" id="{D6A175B5-E370-4902-B6C7-2D3F10167E25}"/>
              </a:ext>
            </a:extLst>
          </p:cNvPr>
          <p:cNvSpPr>
            <a:spLocks noGrp="1"/>
          </p:cNvSpPr>
          <p:nvPr/>
        </p:nvSpPr>
        <p:spPr>
          <a:xfrm>
            <a:off x="2305050" y="352425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F2F4F7"/>
          </a:solidFill>
          <a:ln w="0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core-fill-2">
            <a:extLst>
              <a:ext uri="{FF2B5EF4-FFF2-40B4-BE49-F238E27FC236}">
                <a16:creationId xmlns:a16="http://schemas.microsoft.com/office/drawing/2014/main" id="{469C676B-C16D-4ED8-A589-179CB983CB85}"/>
              </a:ext>
            </a:extLst>
          </p:cNvPr>
          <p:cNvSpPr>
            <a:spLocks noGrp="1"/>
          </p:cNvSpPr>
          <p:nvPr/>
        </p:nvSpPr>
        <p:spPr>
          <a:xfrm>
            <a:off x="2305050" y="3524250"/>
            <a:ext cx="2085975" cy="171450"/>
          </a:xfrm>
          <a:prstGeom prst="roundRect">
            <a:avLst>
              <a:gd name="adj" fmla="val 44444"/>
            </a:avLst>
          </a:prstGeom>
          <a:solidFill>
            <a:srgbClr val="177A77"/>
          </a:solidFill>
          <a:ln w="0">
            <a:solidFill>
              <a:srgbClr val="177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core-weight-2">
            <a:extLst>
              <a:ext uri="{FF2B5EF4-FFF2-40B4-BE49-F238E27FC236}">
                <a16:creationId xmlns:a16="http://schemas.microsoft.com/office/drawing/2014/main" id="{6CBE400C-1CF5-4456-AD51-BDBE6FD6CA36}"/>
              </a:ext>
            </a:extLst>
          </p:cNvPr>
          <p:cNvSpPr>
            <a:spLocks noGrp="1"/>
          </p:cNvSpPr>
          <p:nvPr/>
        </p:nvSpPr>
        <p:spPr>
          <a:xfrm>
            <a:off x="5600700" y="35052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10 pts</a:t>
            </a:r>
          </a:p>
        </p:txBody>
      </p:sp>
      <p:sp>
        <p:nvSpPr>
          <p:cNvPr id="23" name="score-label-3">
            <a:extLst>
              <a:ext uri="{FF2B5EF4-FFF2-40B4-BE49-F238E27FC236}">
                <a16:creationId xmlns:a16="http://schemas.microsoft.com/office/drawing/2014/main" id="{DB1D0835-05B8-4B3B-B47C-2277717E8753}"/>
              </a:ext>
            </a:extLst>
          </p:cNvPr>
          <p:cNvSpPr>
            <a:spLocks noGrp="1"/>
          </p:cNvSpPr>
          <p:nvPr/>
        </p:nvSpPr>
        <p:spPr>
          <a:xfrm>
            <a:off x="533400" y="389572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Design basis</a:t>
            </a:r>
          </a:p>
        </p:txBody>
      </p:sp>
      <p:sp>
        <p:nvSpPr>
          <p:cNvPr id="24" name="score-base-3">
            <a:extLst>
              <a:ext uri="{FF2B5EF4-FFF2-40B4-BE49-F238E27FC236}">
                <a16:creationId xmlns:a16="http://schemas.microsoft.com/office/drawing/2014/main" id="{9D0C5B4A-B43E-4235-865A-2D0A34D42CF0}"/>
              </a:ext>
            </a:extLst>
          </p:cNvPr>
          <p:cNvSpPr>
            <a:spLocks noGrp="1"/>
          </p:cNvSpPr>
          <p:nvPr/>
        </p:nvSpPr>
        <p:spPr>
          <a:xfrm>
            <a:off x="2305050" y="388620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F2F4F7"/>
          </a:solidFill>
          <a:ln w="0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core-fill-3">
            <a:extLst>
              <a:ext uri="{FF2B5EF4-FFF2-40B4-BE49-F238E27FC236}">
                <a16:creationId xmlns:a16="http://schemas.microsoft.com/office/drawing/2014/main" id="{46298B48-54A9-4140-92B0-AEF7D487F2BE}"/>
              </a:ext>
            </a:extLst>
          </p:cNvPr>
          <p:cNvSpPr>
            <a:spLocks noGrp="1"/>
          </p:cNvSpPr>
          <p:nvPr/>
        </p:nvSpPr>
        <p:spPr>
          <a:xfrm>
            <a:off x="2305050" y="3886200"/>
            <a:ext cx="2085975" cy="171450"/>
          </a:xfrm>
          <a:prstGeom prst="roundRect">
            <a:avLst>
              <a:gd name="adj" fmla="val 44444"/>
            </a:avLst>
          </a:prstGeom>
          <a:solidFill>
            <a:srgbClr val="177A77"/>
          </a:solidFill>
          <a:ln w="0">
            <a:solidFill>
              <a:srgbClr val="177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core-weight-3">
            <a:extLst>
              <a:ext uri="{FF2B5EF4-FFF2-40B4-BE49-F238E27FC236}">
                <a16:creationId xmlns:a16="http://schemas.microsoft.com/office/drawing/2014/main" id="{65C604EA-27BD-475D-A9F6-3ED7E6317C18}"/>
              </a:ext>
            </a:extLst>
          </p:cNvPr>
          <p:cNvSpPr>
            <a:spLocks noGrp="1"/>
          </p:cNvSpPr>
          <p:nvPr/>
        </p:nvSpPr>
        <p:spPr>
          <a:xfrm>
            <a:off x="5600700" y="38671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10 pts</a:t>
            </a:r>
          </a:p>
        </p:txBody>
      </p:sp>
      <p:sp>
        <p:nvSpPr>
          <p:cNvPr id="27" name="score-label-4">
            <a:extLst>
              <a:ext uri="{FF2B5EF4-FFF2-40B4-BE49-F238E27FC236}">
                <a16:creationId xmlns:a16="http://schemas.microsoft.com/office/drawing/2014/main" id="{1FA5CA6B-AAFB-40EC-8DAA-9F02B477147A}"/>
              </a:ext>
            </a:extLst>
          </p:cNvPr>
          <p:cNvSpPr>
            <a:spLocks noGrp="1"/>
          </p:cNvSpPr>
          <p:nvPr/>
        </p:nvSpPr>
        <p:spPr>
          <a:xfrm>
            <a:off x="533400" y="42576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Modular fit</a:t>
            </a:r>
          </a:p>
        </p:txBody>
      </p:sp>
      <p:sp>
        <p:nvSpPr>
          <p:cNvPr id="28" name="score-base-4">
            <a:extLst>
              <a:ext uri="{FF2B5EF4-FFF2-40B4-BE49-F238E27FC236}">
                <a16:creationId xmlns:a16="http://schemas.microsoft.com/office/drawing/2014/main" id="{04C62268-8B11-42DC-80D5-A6380031D0C2}"/>
              </a:ext>
            </a:extLst>
          </p:cNvPr>
          <p:cNvSpPr>
            <a:spLocks noGrp="1"/>
          </p:cNvSpPr>
          <p:nvPr/>
        </p:nvSpPr>
        <p:spPr>
          <a:xfrm>
            <a:off x="2305050" y="424815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F2F4F7"/>
          </a:solidFill>
          <a:ln w="0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core-fill-4">
            <a:extLst>
              <a:ext uri="{FF2B5EF4-FFF2-40B4-BE49-F238E27FC236}">
                <a16:creationId xmlns:a16="http://schemas.microsoft.com/office/drawing/2014/main" id="{798EF1E5-4E61-4012-87D4-879027E58859}"/>
              </a:ext>
            </a:extLst>
          </p:cNvPr>
          <p:cNvSpPr>
            <a:spLocks noGrp="1"/>
          </p:cNvSpPr>
          <p:nvPr/>
        </p:nvSpPr>
        <p:spPr>
          <a:xfrm>
            <a:off x="2305050" y="424815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7657B5"/>
          </a:solidFill>
          <a:ln w="0">
            <a:solidFill>
              <a:srgbClr val="765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core-weight-4">
            <a:extLst>
              <a:ext uri="{FF2B5EF4-FFF2-40B4-BE49-F238E27FC236}">
                <a16:creationId xmlns:a16="http://schemas.microsoft.com/office/drawing/2014/main" id="{23BC4B98-6749-43AE-A115-5CFB18E4F2DF}"/>
              </a:ext>
            </a:extLst>
          </p:cNvPr>
          <p:cNvSpPr>
            <a:spLocks noGrp="1"/>
          </p:cNvSpPr>
          <p:nvPr/>
        </p:nvSpPr>
        <p:spPr>
          <a:xfrm>
            <a:off x="5600700" y="4229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765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7657B5"/>
                </a:solidFill>
                <a:latin typeface="Helvetica Neue"/>
                <a:ea typeface="Helvetica Neue"/>
                <a:cs typeface="Helvetica Neue"/>
              </a:rPr>
              <a:t>15 pts</a:t>
            </a:r>
          </a:p>
        </p:txBody>
      </p:sp>
      <p:sp>
        <p:nvSpPr>
          <p:cNvPr id="31" name="score-label-5">
            <a:extLst>
              <a:ext uri="{FF2B5EF4-FFF2-40B4-BE49-F238E27FC236}">
                <a16:creationId xmlns:a16="http://schemas.microsoft.com/office/drawing/2014/main" id="{23D2DE79-A839-4AA1-99DA-C17A1720F052}"/>
              </a:ext>
            </a:extLst>
          </p:cNvPr>
          <p:cNvSpPr>
            <a:spLocks noGrp="1"/>
          </p:cNvSpPr>
          <p:nvPr/>
        </p:nvSpPr>
        <p:spPr>
          <a:xfrm>
            <a:off x="533400" y="461962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</p:txBody>
      </p:sp>
      <p:sp>
        <p:nvSpPr>
          <p:cNvPr id="32" name="score-base-5">
            <a:extLst>
              <a:ext uri="{FF2B5EF4-FFF2-40B4-BE49-F238E27FC236}">
                <a16:creationId xmlns:a16="http://schemas.microsoft.com/office/drawing/2014/main" id="{F01014E2-354F-4E3D-99DB-D5302BCAA61B}"/>
              </a:ext>
            </a:extLst>
          </p:cNvPr>
          <p:cNvSpPr>
            <a:spLocks noGrp="1"/>
          </p:cNvSpPr>
          <p:nvPr/>
        </p:nvSpPr>
        <p:spPr>
          <a:xfrm>
            <a:off x="2305050" y="461010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F2F4F7"/>
          </a:solidFill>
          <a:ln w="0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core-fill-5">
            <a:extLst>
              <a:ext uri="{FF2B5EF4-FFF2-40B4-BE49-F238E27FC236}">
                <a16:creationId xmlns:a16="http://schemas.microsoft.com/office/drawing/2014/main" id="{0E75A70E-F60E-4BFE-9313-1797B9C9B5CE}"/>
              </a:ext>
            </a:extLst>
          </p:cNvPr>
          <p:cNvSpPr>
            <a:spLocks noGrp="1"/>
          </p:cNvSpPr>
          <p:nvPr/>
        </p:nvSpPr>
        <p:spPr>
          <a:xfrm>
            <a:off x="2305050" y="461010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7657B5"/>
          </a:solidFill>
          <a:ln w="0">
            <a:solidFill>
              <a:srgbClr val="765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-weight-5">
            <a:extLst>
              <a:ext uri="{FF2B5EF4-FFF2-40B4-BE49-F238E27FC236}">
                <a16:creationId xmlns:a16="http://schemas.microsoft.com/office/drawing/2014/main" id="{CB378663-AF63-4617-A449-EF60E307B1C5}"/>
              </a:ext>
            </a:extLst>
          </p:cNvPr>
          <p:cNvSpPr>
            <a:spLocks noGrp="1"/>
          </p:cNvSpPr>
          <p:nvPr/>
        </p:nvSpPr>
        <p:spPr>
          <a:xfrm>
            <a:off x="5600700" y="45910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765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7657B5"/>
                </a:solidFill>
                <a:latin typeface="Helvetica Neue"/>
                <a:ea typeface="Helvetica Neue"/>
                <a:cs typeface="Helvetica Neue"/>
              </a:rPr>
              <a:t>15 pts</a:t>
            </a:r>
          </a:p>
        </p:txBody>
      </p:sp>
      <p:sp>
        <p:nvSpPr>
          <p:cNvPr id="35" name="score-label-6">
            <a:extLst>
              <a:ext uri="{FF2B5EF4-FFF2-40B4-BE49-F238E27FC236}">
                <a16:creationId xmlns:a16="http://schemas.microsoft.com/office/drawing/2014/main" id="{7A547FEF-4CA9-4417-85D9-6A696D307EDA}"/>
              </a:ext>
            </a:extLst>
          </p:cNvPr>
          <p:cNvSpPr>
            <a:spLocks noGrp="1"/>
          </p:cNvSpPr>
          <p:nvPr/>
        </p:nvSpPr>
        <p:spPr>
          <a:xfrm>
            <a:off x="533400" y="49815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Funding + timeline</a:t>
            </a:r>
          </a:p>
        </p:txBody>
      </p:sp>
      <p:sp>
        <p:nvSpPr>
          <p:cNvPr id="36" name="score-base-6">
            <a:extLst>
              <a:ext uri="{FF2B5EF4-FFF2-40B4-BE49-F238E27FC236}">
                <a16:creationId xmlns:a16="http://schemas.microsoft.com/office/drawing/2014/main" id="{BD595639-F5C8-4123-ADB3-820BB8CDAB61}"/>
              </a:ext>
            </a:extLst>
          </p:cNvPr>
          <p:cNvSpPr>
            <a:spLocks noGrp="1"/>
          </p:cNvSpPr>
          <p:nvPr/>
        </p:nvSpPr>
        <p:spPr>
          <a:xfrm>
            <a:off x="2305050" y="497205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F2F4F7"/>
          </a:solidFill>
          <a:ln w="0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-fill-6">
            <a:extLst>
              <a:ext uri="{FF2B5EF4-FFF2-40B4-BE49-F238E27FC236}">
                <a16:creationId xmlns:a16="http://schemas.microsoft.com/office/drawing/2014/main" id="{AD5D0090-100A-4B4F-81A0-3FFC388B4484}"/>
              </a:ext>
            </a:extLst>
          </p:cNvPr>
          <p:cNvSpPr>
            <a:spLocks noGrp="1"/>
          </p:cNvSpPr>
          <p:nvPr/>
        </p:nvSpPr>
        <p:spPr>
          <a:xfrm>
            <a:off x="2305050" y="4972050"/>
            <a:ext cx="2085975" cy="171450"/>
          </a:xfrm>
          <a:prstGeom prst="roundRect">
            <a:avLst>
              <a:gd name="adj" fmla="val 44444"/>
            </a:avLst>
          </a:prstGeom>
          <a:solidFill>
            <a:srgbClr val="9A5C24"/>
          </a:solidFill>
          <a:ln w="0">
            <a:solidFill>
              <a:srgbClr val="9A5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core-weight-6">
            <a:extLst>
              <a:ext uri="{FF2B5EF4-FFF2-40B4-BE49-F238E27FC236}">
                <a16:creationId xmlns:a16="http://schemas.microsoft.com/office/drawing/2014/main" id="{9859CD0A-F363-428C-9D34-CBE8E1777505}"/>
              </a:ext>
            </a:extLst>
          </p:cNvPr>
          <p:cNvSpPr>
            <a:spLocks noGrp="1"/>
          </p:cNvSpPr>
          <p:nvPr/>
        </p:nvSpPr>
        <p:spPr>
          <a:xfrm>
            <a:off x="5600700" y="49530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9A5C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9A5C24"/>
                </a:solidFill>
                <a:latin typeface="Helvetica Neue"/>
                <a:ea typeface="Helvetica Neue"/>
                <a:cs typeface="Helvetica Neue"/>
              </a:rPr>
              <a:t>10 pts</a:t>
            </a:r>
          </a:p>
        </p:txBody>
      </p:sp>
      <p:sp>
        <p:nvSpPr>
          <p:cNvPr id="39" name="score-label-7">
            <a:extLst>
              <a:ext uri="{FF2B5EF4-FFF2-40B4-BE49-F238E27FC236}">
                <a16:creationId xmlns:a16="http://schemas.microsoft.com/office/drawing/2014/main" id="{EF53B4FD-B5F4-4159-8DB1-D001BC34675A}"/>
              </a:ext>
            </a:extLst>
          </p:cNvPr>
          <p:cNvSpPr>
            <a:spLocks noGrp="1"/>
          </p:cNvSpPr>
          <p:nvPr/>
        </p:nvSpPr>
        <p:spPr>
          <a:xfrm>
            <a:off x="533400" y="534352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Team commitment</a:t>
            </a:r>
          </a:p>
        </p:txBody>
      </p:sp>
      <p:sp>
        <p:nvSpPr>
          <p:cNvPr id="40" name="score-base-7">
            <a:extLst>
              <a:ext uri="{FF2B5EF4-FFF2-40B4-BE49-F238E27FC236}">
                <a16:creationId xmlns:a16="http://schemas.microsoft.com/office/drawing/2014/main" id="{458849ED-7628-45CA-81A4-D0C9CA531707}"/>
              </a:ext>
            </a:extLst>
          </p:cNvPr>
          <p:cNvSpPr>
            <a:spLocks noGrp="1"/>
          </p:cNvSpPr>
          <p:nvPr/>
        </p:nvSpPr>
        <p:spPr>
          <a:xfrm>
            <a:off x="2305050" y="5334000"/>
            <a:ext cx="3124200" cy="171450"/>
          </a:xfrm>
          <a:prstGeom prst="roundRect">
            <a:avLst>
              <a:gd name="adj" fmla="val 44444"/>
            </a:avLst>
          </a:prstGeom>
          <a:solidFill>
            <a:srgbClr val="F2F4F7"/>
          </a:solidFill>
          <a:ln w="0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-fill-7">
            <a:extLst>
              <a:ext uri="{FF2B5EF4-FFF2-40B4-BE49-F238E27FC236}">
                <a16:creationId xmlns:a16="http://schemas.microsoft.com/office/drawing/2014/main" id="{D4F4910E-86BC-4CF2-A525-74E133CD86C8}"/>
              </a:ext>
            </a:extLst>
          </p:cNvPr>
          <p:cNvSpPr>
            <a:spLocks noGrp="1"/>
          </p:cNvSpPr>
          <p:nvPr/>
        </p:nvSpPr>
        <p:spPr>
          <a:xfrm>
            <a:off x="2305050" y="5334000"/>
            <a:ext cx="2085975" cy="171450"/>
          </a:xfrm>
          <a:prstGeom prst="roundRect">
            <a:avLst>
              <a:gd name="adj" fmla="val 44444"/>
            </a:avLst>
          </a:prstGeom>
          <a:solidFill>
            <a:srgbClr val="9A5C24"/>
          </a:solidFill>
          <a:ln w="0">
            <a:solidFill>
              <a:srgbClr val="9A5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-weight-7">
            <a:extLst>
              <a:ext uri="{FF2B5EF4-FFF2-40B4-BE49-F238E27FC236}">
                <a16:creationId xmlns:a16="http://schemas.microsoft.com/office/drawing/2014/main" id="{95BC3091-DADC-4877-8B89-747F2E011B09}"/>
              </a:ext>
            </a:extLst>
          </p:cNvPr>
          <p:cNvSpPr>
            <a:spLocks noGrp="1"/>
          </p:cNvSpPr>
          <p:nvPr/>
        </p:nvSpPr>
        <p:spPr>
          <a:xfrm>
            <a:off x="5600700" y="5314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9A5C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9A5C24"/>
                </a:solidFill>
                <a:latin typeface="Helvetica Neue"/>
                <a:ea typeface="Helvetica Neue"/>
                <a:cs typeface="Helvetica Neue"/>
              </a:rPr>
              <a:t>10 pts</a:t>
            </a:r>
          </a:p>
        </p:txBody>
      </p:sp>
      <p:sp>
        <p:nvSpPr>
          <p:cNvPr id="43" name="score-bands">
            <a:extLst>
              <a:ext uri="{FF2B5EF4-FFF2-40B4-BE49-F238E27FC236}">
                <a16:creationId xmlns:a16="http://schemas.microsoft.com/office/drawing/2014/main" id="{6986A129-0825-43C6-BC16-12449F8AD89E}"/>
              </a:ext>
            </a:extLst>
          </p:cNvPr>
          <p:cNvSpPr>
            <a:spLocks noGrp="1"/>
          </p:cNvSpPr>
          <p:nvPr/>
        </p:nvSpPr>
        <p:spPr>
          <a:xfrm>
            <a:off x="7239000" y="1752600"/>
            <a:ext cx="4419600" cy="4000500"/>
          </a:xfrm>
          <a:prstGeom prst="roundRect">
            <a:avLst>
              <a:gd name="adj" fmla="val 1905"/>
            </a:avLst>
          </a:prstGeom>
          <a:solidFill>
            <a:srgbClr val="F2F4F7"/>
          </a:solidFill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core-bands-title">
            <a:extLst>
              <a:ext uri="{FF2B5EF4-FFF2-40B4-BE49-F238E27FC236}">
                <a16:creationId xmlns:a16="http://schemas.microsoft.com/office/drawing/2014/main" id="{E5AEF664-978C-4D10-86AD-95DBC5B01D7F}"/>
              </a:ext>
            </a:extLst>
          </p:cNvPr>
          <p:cNvSpPr>
            <a:spLocks noGrp="1"/>
          </p:cNvSpPr>
          <p:nvPr/>
        </p:nvSpPr>
        <p:spPr>
          <a:xfrm>
            <a:off x="7543800" y="20002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Score bands</a:t>
            </a:r>
          </a:p>
        </p:txBody>
      </p:sp>
      <p:sp>
        <p:nvSpPr>
          <p:cNvPr id="45" name="score-band-0">
            <a:extLst>
              <a:ext uri="{FF2B5EF4-FFF2-40B4-BE49-F238E27FC236}">
                <a16:creationId xmlns:a16="http://schemas.microsoft.com/office/drawing/2014/main" id="{60B1FA1B-74F7-4E24-95E2-E12E193F23AA}"/>
              </a:ext>
            </a:extLst>
          </p:cNvPr>
          <p:cNvSpPr>
            <a:spLocks noGrp="1"/>
          </p:cNvSpPr>
          <p:nvPr/>
        </p:nvSpPr>
        <p:spPr>
          <a:xfrm>
            <a:off x="7543800" y="2552700"/>
            <a:ext cx="3810000" cy="495300"/>
          </a:xfrm>
          <a:prstGeom prst="roundRect">
            <a:avLst>
              <a:gd name="adj" fmla="val 15385"/>
            </a:avLst>
          </a:prstGeom>
          <a:solidFill>
            <a:srgbClr val="E5F0E2"/>
          </a:solidFill>
          <a:ln w="9525">
            <a:solidFill>
              <a:srgbClr val="527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-band-label-0">
            <a:extLst>
              <a:ext uri="{FF2B5EF4-FFF2-40B4-BE49-F238E27FC236}">
                <a16:creationId xmlns:a16="http://schemas.microsoft.com/office/drawing/2014/main" id="{4EC9FA4F-6033-44BA-8D24-701C5933A28B}"/>
              </a:ext>
            </a:extLst>
          </p:cNvPr>
          <p:cNvSpPr>
            <a:spLocks noGrp="1"/>
          </p:cNvSpPr>
          <p:nvPr/>
        </p:nvSpPr>
        <p:spPr>
          <a:xfrm>
            <a:off x="7734300" y="2628900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5273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2734D"/>
                </a:solidFill>
                <a:latin typeface="Helvetica Neue"/>
                <a:ea typeface="Helvetica Neue"/>
                <a:cs typeface="Helvetica Neue"/>
              </a:rPr>
              <a:t>STRONG</a:t>
            </a:r>
          </a:p>
        </p:txBody>
      </p:sp>
      <p:sp>
        <p:nvSpPr>
          <p:cNvPr id="47" name="score-band-range-0">
            <a:extLst>
              <a:ext uri="{FF2B5EF4-FFF2-40B4-BE49-F238E27FC236}">
                <a16:creationId xmlns:a16="http://schemas.microsoft.com/office/drawing/2014/main" id="{0228DE21-467C-43EB-80B2-A6E95000E3E2}"/>
              </a:ext>
            </a:extLst>
          </p:cNvPr>
          <p:cNvSpPr>
            <a:spLocks noGrp="1"/>
          </p:cNvSpPr>
          <p:nvPr/>
        </p:nvSpPr>
        <p:spPr>
          <a:xfrm>
            <a:off x="9029700" y="2628900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75–100</a:t>
            </a:r>
          </a:p>
        </p:txBody>
      </p:sp>
      <p:sp>
        <p:nvSpPr>
          <p:cNvPr id="48" name="score-band-meaning-0">
            <a:extLst>
              <a:ext uri="{FF2B5EF4-FFF2-40B4-BE49-F238E27FC236}">
                <a16:creationId xmlns:a16="http://schemas.microsoft.com/office/drawing/2014/main" id="{9FFDA8C0-3E50-456C-99F0-D05C6A318FA2}"/>
              </a:ext>
            </a:extLst>
          </p:cNvPr>
          <p:cNvSpPr>
            <a:spLocks noGrp="1"/>
          </p:cNvSpPr>
          <p:nvPr/>
        </p:nvSpPr>
        <p:spPr>
          <a:xfrm>
            <a:off x="10134600" y="26289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Ready signal</a:t>
            </a:r>
          </a:p>
        </p:txBody>
      </p:sp>
      <p:sp>
        <p:nvSpPr>
          <p:cNvPr id="49" name="score-band-1">
            <a:extLst>
              <a:ext uri="{FF2B5EF4-FFF2-40B4-BE49-F238E27FC236}">
                <a16:creationId xmlns:a16="http://schemas.microsoft.com/office/drawing/2014/main" id="{F8BDFE7F-6E64-46B9-9CD0-0B92B6F25B7A}"/>
              </a:ext>
            </a:extLst>
          </p:cNvPr>
          <p:cNvSpPr>
            <a:spLocks noGrp="1"/>
          </p:cNvSpPr>
          <p:nvPr/>
        </p:nvSpPr>
        <p:spPr>
          <a:xfrm>
            <a:off x="7543800" y="3200400"/>
            <a:ext cx="3810000" cy="495300"/>
          </a:xfrm>
          <a:prstGeom prst="roundRect">
            <a:avLst>
              <a:gd name="adj" fmla="val 15385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core-band-label-1">
            <a:extLst>
              <a:ext uri="{FF2B5EF4-FFF2-40B4-BE49-F238E27FC236}">
                <a16:creationId xmlns:a16="http://schemas.microsoft.com/office/drawing/2014/main" id="{243AABE3-077E-45BA-A73C-6F39E4F5EB47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MODERATE</a:t>
            </a:r>
          </a:p>
        </p:txBody>
      </p:sp>
      <p:sp>
        <p:nvSpPr>
          <p:cNvPr id="51" name="score-band-range-1">
            <a:extLst>
              <a:ext uri="{FF2B5EF4-FFF2-40B4-BE49-F238E27FC236}">
                <a16:creationId xmlns:a16="http://schemas.microsoft.com/office/drawing/2014/main" id="{469C1A7A-6AB8-4725-810C-D9E5B5BDBF13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50–74</a:t>
            </a:r>
          </a:p>
        </p:txBody>
      </p:sp>
      <p:sp>
        <p:nvSpPr>
          <p:cNvPr id="52" name="score-band-meaning-1">
            <a:extLst>
              <a:ext uri="{FF2B5EF4-FFF2-40B4-BE49-F238E27FC236}">
                <a16:creationId xmlns:a16="http://schemas.microsoft.com/office/drawing/2014/main" id="{B5DED15F-0EF0-4334-9277-AB72C7055E19}"/>
              </a:ext>
            </a:extLst>
          </p:cNvPr>
          <p:cNvSpPr>
            <a:spLocks noGrp="1"/>
          </p:cNvSpPr>
          <p:nvPr/>
        </p:nvSpPr>
        <p:spPr>
          <a:xfrm>
            <a:off x="10134600" y="32766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Some actions remain</a:t>
            </a:r>
          </a:p>
        </p:txBody>
      </p:sp>
      <p:sp>
        <p:nvSpPr>
          <p:cNvPr id="53" name="score-band-2">
            <a:extLst>
              <a:ext uri="{FF2B5EF4-FFF2-40B4-BE49-F238E27FC236}">
                <a16:creationId xmlns:a16="http://schemas.microsoft.com/office/drawing/2014/main" id="{E7F0F346-56E2-4B22-BADC-3182F3715F12}"/>
              </a:ext>
            </a:extLst>
          </p:cNvPr>
          <p:cNvSpPr>
            <a:spLocks noGrp="1"/>
          </p:cNvSpPr>
          <p:nvPr/>
        </p:nvSpPr>
        <p:spPr>
          <a:xfrm>
            <a:off x="7543800" y="3848100"/>
            <a:ext cx="3810000" cy="495300"/>
          </a:xfrm>
          <a:prstGeom prst="roundRect">
            <a:avLst>
              <a:gd name="adj" fmla="val 15385"/>
            </a:avLst>
          </a:prstGeom>
          <a:solidFill>
            <a:srgbClr val="F8E8D8"/>
          </a:solidFill>
          <a:ln w="9525">
            <a:solidFill>
              <a:srgbClr val="9A5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core-band-label-2">
            <a:extLst>
              <a:ext uri="{FF2B5EF4-FFF2-40B4-BE49-F238E27FC236}">
                <a16:creationId xmlns:a16="http://schemas.microsoft.com/office/drawing/2014/main" id="{712DEA64-34C5-4D07-B575-FE0E28C29E82}"/>
              </a:ext>
            </a:extLst>
          </p:cNvPr>
          <p:cNvSpPr>
            <a:spLocks noGrp="1"/>
          </p:cNvSpPr>
          <p:nvPr/>
        </p:nvSpPr>
        <p:spPr>
          <a:xfrm>
            <a:off x="7734300" y="3924300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9A5C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9A5C24"/>
                </a:solidFill>
                <a:latin typeface="Helvetica Neue"/>
                <a:ea typeface="Helvetica Neue"/>
                <a:cs typeface="Helvetica Neue"/>
              </a:rPr>
              <a:t>WEAK</a:t>
            </a:r>
          </a:p>
        </p:txBody>
      </p:sp>
      <p:sp>
        <p:nvSpPr>
          <p:cNvPr id="55" name="score-band-range-2">
            <a:extLst>
              <a:ext uri="{FF2B5EF4-FFF2-40B4-BE49-F238E27FC236}">
                <a16:creationId xmlns:a16="http://schemas.microsoft.com/office/drawing/2014/main" id="{5A91B9B9-A6D4-43CE-8630-2BB684A85E4B}"/>
              </a:ext>
            </a:extLst>
          </p:cNvPr>
          <p:cNvSpPr>
            <a:spLocks noGrp="1"/>
          </p:cNvSpPr>
          <p:nvPr/>
        </p:nvSpPr>
        <p:spPr>
          <a:xfrm>
            <a:off x="9029700" y="3924300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25–49</a:t>
            </a:r>
          </a:p>
        </p:txBody>
      </p:sp>
      <p:sp>
        <p:nvSpPr>
          <p:cNvPr id="56" name="score-band-meaning-2">
            <a:extLst>
              <a:ext uri="{FF2B5EF4-FFF2-40B4-BE49-F238E27FC236}">
                <a16:creationId xmlns:a16="http://schemas.microsoft.com/office/drawing/2014/main" id="{3673EE74-51A6-467C-BBC1-C8900193B6F8}"/>
              </a:ext>
            </a:extLst>
          </p:cNvPr>
          <p:cNvSpPr>
            <a:spLocks noGrp="1"/>
          </p:cNvSpPr>
          <p:nvPr/>
        </p:nvSpPr>
        <p:spPr>
          <a:xfrm>
            <a:off x="10134600" y="39243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Needs evidence / work</a:t>
            </a:r>
          </a:p>
        </p:txBody>
      </p:sp>
      <p:sp>
        <p:nvSpPr>
          <p:cNvPr id="57" name="score-band-3">
            <a:extLst>
              <a:ext uri="{FF2B5EF4-FFF2-40B4-BE49-F238E27FC236}">
                <a16:creationId xmlns:a16="http://schemas.microsoft.com/office/drawing/2014/main" id="{EC133CB1-FBE7-4A7B-84F7-201050A8AFA1}"/>
              </a:ext>
            </a:extLst>
          </p:cNvPr>
          <p:cNvSpPr>
            <a:spLocks noGrp="1"/>
          </p:cNvSpPr>
          <p:nvPr/>
        </p:nvSpPr>
        <p:spPr>
          <a:xfrm>
            <a:off x="7543800" y="4495800"/>
            <a:ext cx="3810000" cy="495300"/>
          </a:xfrm>
          <a:prstGeom prst="roundRect">
            <a:avLst>
              <a:gd name="adj" fmla="val 15385"/>
            </a:avLst>
          </a:prstGeom>
          <a:solidFill>
            <a:srgbClr val="F9E2E0"/>
          </a:solidFill>
          <a:ln w="9525">
            <a:solidFill>
              <a:srgbClr val="A23C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core-band-label-3">
            <a:extLst>
              <a:ext uri="{FF2B5EF4-FFF2-40B4-BE49-F238E27FC236}">
                <a16:creationId xmlns:a16="http://schemas.microsoft.com/office/drawing/2014/main" id="{391B9B2F-A639-406D-935C-B4475E45DEBA}"/>
              </a:ext>
            </a:extLst>
          </p:cNvPr>
          <p:cNvSpPr>
            <a:spLocks noGrp="1"/>
          </p:cNvSpPr>
          <p:nvPr/>
        </p:nvSpPr>
        <p:spPr>
          <a:xfrm>
            <a:off x="7734300" y="4572000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A23C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23C37"/>
                </a:solidFill>
                <a:latin typeface="Helvetica Neue"/>
                <a:ea typeface="Helvetica Neue"/>
                <a:cs typeface="Helvetica Neue"/>
              </a:rPr>
              <a:t>HIGH RISK</a:t>
            </a:r>
          </a:p>
        </p:txBody>
      </p:sp>
      <p:sp>
        <p:nvSpPr>
          <p:cNvPr id="59" name="score-band-range-3">
            <a:extLst>
              <a:ext uri="{FF2B5EF4-FFF2-40B4-BE49-F238E27FC236}">
                <a16:creationId xmlns:a16="http://schemas.microsoft.com/office/drawing/2014/main" id="{88706FA3-77F5-4068-AF9D-F65086B6E6BC}"/>
              </a:ext>
            </a:extLst>
          </p:cNvPr>
          <p:cNvSpPr>
            <a:spLocks noGrp="1"/>
          </p:cNvSpPr>
          <p:nvPr/>
        </p:nvSpPr>
        <p:spPr>
          <a:xfrm>
            <a:off x="9029700" y="4572000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172"/>
          </a:bodyPr>
          <a:lstStyle/>
          <a:p>
            <a:pPr algn="ctr">
              <a:def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&lt;25 or hard No-Go</a:t>
            </a:r>
          </a:p>
        </p:txBody>
      </p:sp>
      <p:sp>
        <p:nvSpPr>
          <p:cNvPr id="60" name="score-band-meaning-3">
            <a:extLst>
              <a:ext uri="{FF2B5EF4-FFF2-40B4-BE49-F238E27FC236}">
                <a16:creationId xmlns:a16="http://schemas.microsoft.com/office/drawing/2014/main" id="{AE0A050D-0EDC-4E46-8E28-793150C74933}"/>
              </a:ext>
            </a:extLst>
          </p:cNvPr>
          <p:cNvSpPr>
            <a:spLocks noGrp="1"/>
          </p:cNvSpPr>
          <p:nvPr/>
        </p:nvSpPr>
        <p:spPr>
          <a:xfrm>
            <a:off x="10134600" y="45720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Stop or resolve first</a:t>
            </a:r>
          </a:p>
        </p:txBody>
      </p:sp>
      <p:sp>
        <p:nvSpPr>
          <p:cNvPr id="61" name="score-gate-callout">
            <a:extLst>
              <a:ext uri="{FF2B5EF4-FFF2-40B4-BE49-F238E27FC236}">
                <a16:creationId xmlns:a16="http://schemas.microsoft.com/office/drawing/2014/main" id="{E8693650-7B8B-4664-8963-529000D842FD}"/>
              </a:ext>
            </a:extLst>
          </p:cNvPr>
          <p:cNvSpPr>
            <a:spLocks noGrp="1"/>
          </p:cNvSpPr>
          <p:nvPr/>
        </p:nvSpPr>
        <p:spPr>
          <a:xfrm>
            <a:off x="533400" y="575310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FFF8E6"/>
          </a:solidFill>
          <a:ln w="9525">
            <a:solidFill>
              <a:srgbClr val="7A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core-gate-text">
            <a:extLst>
              <a:ext uri="{FF2B5EF4-FFF2-40B4-BE49-F238E27FC236}">
                <a16:creationId xmlns:a16="http://schemas.microsoft.com/office/drawing/2014/main" id="{E63D5986-D70D-4BA0-A3A4-E8F65A9BFFD6}"/>
              </a:ext>
            </a:extLst>
          </p:cNvPr>
          <p:cNvSpPr>
            <a:spLocks noGrp="1"/>
          </p:cNvSpPr>
          <p:nvPr/>
        </p:nvSpPr>
        <p:spPr>
          <a:xfrm>
            <a:off x="742950" y="5848350"/>
            <a:ext cx="10706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7A5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7A5A00"/>
                </a:solidFill>
                <a:latin typeface="Helvetica Neue"/>
                <a:ea typeface="Helvetica Neue"/>
                <a:cs typeface="Helvetica Neue"/>
              </a:rPr>
              <a:t>Important: score = readiness signal. L3 Gate 1 still requires 10/10 controlled qualification questions answered Yes with evidence.</a:t>
            </a:r>
          </a:p>
        </p:txBody>
      </p:sp>
      <p:sp>
        <p:nvSpPr>
          <p:cNvPr id="63" name="footer-rule-5">
            <a:extLst>
              <a:ext uri="{FF2B5EF4-FFF2-40B4-BE49-F238E27FC236}">
                <a16:creationId xmlns:a16="http://schemas.microsoft.com/office/drawing/2014/main" id="{55DB32AC-FE5B-40D2-9212-BCB0BCDC75B3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footer-label-5">
            <a:extLst>
              <a:ext uri="{FF2B5EF4-FFF2-40B4-BE49-F238E27FC236}">
                <a16:creationId xmlns:a16="http://schemas.microsoft.com/office/drawing/2014/main" id="{8980EA74-59EF-4682-9EA2-85000D2A09AC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PROFAB / ELEVATOR PITCH</a:t>
            </a:r>
          </a:p>
        </p:txBody>
      </p:sp>
      <p:sp>
        <p:nvSpPr>
          <p:cNvPr id="65" name="footer-page-5">
            <a:extLst>
              <a:ext uri="{FF2B5EF4-FFF2-40B4-BE49-F238E27FC236}">
                <a16:creationId xmlns:a16="http://schemas.microsoft.com/office/drawing/2014/main" id="{7EFAA31C-FA1C-4611-8746-A844F076DAD3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97436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kicker-6">
            <a:extLst>
              <a:ext uri="{FF2B5EF4-FFF2-40B4-BE49-F238E27FC236}">
                <a16:creationId xmlns:a16="http://schemas.microsoft.com/office/drawing/2014/main" id="{55E88C0A-9945-4430-ABA5-825F09F4F7C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77A77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A52EC9BF-ED41-4160-B562-190079B2BFC8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Use L1 → L2 → L3 as the operating path.</a:t>
            </a:r>
          </a:p>
        </p:txBody>
      </p:sp>
      <p:sp>
        <p:nvSpPr>
          <p:cNvPr id="3" name="title-rule-6">
            <a:extLst>
              <a:ext uri="{FF2B5EF4-FFF2-40B4-BE49-F238E27FC236}">
                <a16:creationId xmlns:a16="http://schemas.microsoft.com/office/drawing/2014/main" id="{02B8C2D5-2827-4825-A4DB-57E51BE99B25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11125200" cy="0"/>
          </a:xfrm>
          <a:prstGeom prst="line">
            <a:avLst/>
          </a:prstGeom>
          <a:noFill/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rule-6">
            <a:extLst>
              <a:ext uri="{FF2B5EF4-FFF2-40B4-BE49-F238E27FC236}">
                <a16:creationId xmlns:a16="http://schemas.microsoft.com/office/drawing/2014/main" id="{C500DB84-C881-462C-8F0C-34EC9BED0CFC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-page-6">
            <a:extLst>
              <a:ext uri="{FF2B5EF4-FFF2-40B4-BE49-F238E27FC236}">
                <a16:creationId xmlns:a16="http://schemas.microsoft.com/office/drawing/2014/main" id="{95CF2032-374C-4D63-A5EC-4B41635054C3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7" name="payoff-lead">
            <a:extLst>
              <a:ext uri="{FF2B5EF4-FFF2-40B4-BE49-F238E27FC236}">
                <a16:creationId xmlns:a16="http://schemas.microsoft.com/office/drawing/2014/main" id="{CC442DFC-FE7B-4861-BF78-C8CB61E3032D}"/>
              </a:ext>
            </a:extLst>
          </p:cNvPr>
          <p:cNvSpPr>
            <a:spLocks noGrp="1"/>
          </p:cNvSpPr>
          <p:nvPr/>
        </p:nvSpPr>
        <p:spPr>
          <a:xfrm>
            <a:off x="53340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Each named view has one job: orient, assign, execute, review, and release.</a:t>
            </a:r>
          </a:p>
        </p:txBody>
      </p:sp>
      <p:sp>
        <p:nvSpPr>
          <p:cNvPr id="8" name="payoff-connector-0">
            <a:extLst>
              <a:ext uri="{FF2B5EF4-FFF2-40B4-BE49-F238E27FC236}">
                <a16:creationId xmlns:a16="http://schemas.microsoft.com/office/drawing/2014/main" id="{273BDE64-FEF5-402B-9E77-2E0B4D54BF20}"/>
              </a:ext>
            </a:extLst>
          </p:cNvPr>
          <p:cNvSpPr>
            <a:spLocks noGrp="1"/>
          </p:cNvSpPr>
          <p:nvPr/>
        </p:nvSpPr>
        <p:spPr>
          <a:xfrm>
            <a:off x="2457450" y="2990850"/>
            <a:ext cx="1562100" cy="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ayoff-arrow-0">
            <a:extLst>
              <a:ext uri="{FF2B5EF4-FFF2-40B4-BE49-F238E27FC236}">
                <a16:creationId xmlns:a16="http://schemas.microsoft.com/office/drawing/2014/main" id="{91CB4B55-2F62-4A01-B1A6-8E572B461653}"/>
              </a:ext>
            </a:extLst>
          </p:cNvPr>
          <p:cNvSpPr>
            <a:spLocks noGrp="1"/>
          </p:cNvSpPr>
          <p:nvPr/>
        </p:nvSpPr>
        <p:spPr>
          <a:xfrm>
            <a:off x="3752850" y="2838450"/>
            <a:ext cx="323850" cy="304800"/>
          </a:xfrm>
          <a:prstGeom prst="rightArrow">
            <a:avLst/>
          </a:prstGeom>
          <a:solidFill>
            <a:srgbClr val="E8EEF5"/>
          </a:solidFill>
          <a:ln w="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yoff-connector-1">
            <a:extLst>
              <a:ext uri="{FF2B5EF4-FFF2-40B4-BE49-F238E27FC236}">
                <a16:creationId xmlns:a16="http://schemas.microsoft.com/office/drawing/2014/main" id="{F10908F3-BDFE-4919-B3AA-E33CCB5FFE08}"/>
              </a:ext>
            </a:extLst>
          </p:cNvPr>
          <p:cNvSpPr>
            <a:spLocks noGrp="1"/>
          </p:cNvSpPr>
          <p:nvPr/>
        </p:nvSpPr>
        <p:spPr>
          <a:xfrm>
            <a:off x="4438650" y="2990850"/>
            <a:ext cx="1562100" cy="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ayoff-arrow-1">
            <a:extLst>
              <a:ext uri="{FF2B5EF4-FFF2-40B4-BE49-F238E27FC236}">
                <a16:creationId xmlns:a16="http://schemas.microsoft.com/office/drawing/2014/main" id="{4856156E-D300-4F75-8D38-7723E02A28D6}"/>
              </a:ext>
            </a:extLst>
          </p:cNvPr>
          <p:cNvSpPr>
            <a:spLocks noGrp="1"/>
          </p:cNvSpPr>
          <p:nvPr/>
        </p:nvSpPr>
        <p:spPr>
          <a:xfrm>
            <a:off x="5734050" y="2838450"/>
            <a:ext cx="323850" cy="304800"/>
          </a:xfrm>
          <a:prstGeom prst="rightArrow">
            <a:avLst/>
          </a:prstGeom>
          <a:solidFill>
            <a:srgbClr val="E8EEF5"/>
          </a:solidFill>
          <a:ln w="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ayoff-connector-2">
            <a:extLst>
              <a:ext uri="{FF2B5EF4-FFF2-40B4-BE49-F238E27FC236}">
                <a16:creationId xmlns:a16="http://schemas.microsoft.com/office/drawing/2014/main" id="{450A1807-EE0D-440E-AB87-74C7961F2932}"/>
              </a:ext>
            </a:extLst>
          </p:cNvPr>
          <p:cNvSpPr>
            <a:spLocks noGrp="1"/>
          </p:cNvSpPr>
          <p:nvPr/>
        </p:nvSpPr>
        <p:spPr>
          <a:xfrm>
            <a:off x="6419850" y="2990850"/>
            <a:ext cx="1562100" cy="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ayoff-arrow-2">
            <a:extLst>
              <a:ext uri="{FF2B5EF4-FFF2-40B4-BE49-F238E27FC236}">
                <a16:creationId xmlns:a16="http://schemas.microsoft.com/office/drawing/2014/main" id="{B5208495-047C-4711-8F06-30B381A09952}"/>
              </a:ext>
            </a:extLst>
          </p:cNvPr>
          <p:cNvSpPr>
            <a:spLocks noGrp="1"/>
          </p:cNvSpPr>
          <p:nvPr/>
        </p:nvSpPr>
        <p:spPr>
          <a:xfrm>
            <a:off x="7715250" y="2838450"/>
            <a:ext cx="323850" cy="304800"/>
          </a:xfrm>
          <a:prstGeom prst="rightArrow">
            <a:avLst/>
          </a:prstGeom>
          <a:solidFill>
            <a:srgbClr val="E8EEF5"/>
          </a:solidFill>
          <a:ln w="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ayoff-connector-3">
            <a:extLst>
              <a:ext uri="{FF2B5EF4-FFF2-40B4-BE49-F238E27FC236}">
                <a16:creationId xmlns:a16="http://schemas.microsoft.com/office/drawing/2014/main" id="{A7204A81-4182-42DC-9CD4-EDF018931E0E}"/>
              </a:ext>
            </a:extLst>
          </p:cNvPr>
          <p:cNvSpPr>
            <a:spLocks noGrp="1"/>
          </p:cNvSpPr>
          <p:nvPr/>
        </p:nvSpPr>
        <p:spPr>
          <a:xfrm>
            <a:off x="8401050" y="2990850"/>
            <a:ext cx="1562100" cy="0"/>
          </a:xfrm>
          <a:prstGeom prst="line">
            <a:avLst/>
          </a:prstGeom>
          <a:noFill/>
          <a:ln w="2857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payoff-arrow-3">
            <a:extLst>
              <a:ext uri="{FF2B5EF4-FFF2-40B4-BE49-F238E27FC236}">
                <a16:creationId xmlns:a16="http://schemas.microsoft.com/office/drawing/2014/main" id="{2465FC89-874D-4EA0-90EE-275ECBBDFA9D}"/>
              </a:ext>
            </a:extLst>
          </p:cNvPr>
          <p:cNvSpPr>
            <a:spLocks noGrp="1"/>
          </p:cNvSpPr>
          <p:nvPr/>
        </p:nvSpPr>
        <p:spPr>
          <a:xfrm>
            <a:off x="9696450" y="2838450"/>
            <a:ext cx="323850" cy="304800"/>
          </a:xfrm>
          <a:prstGeom prst="rightArrow">
            <a:avLst/>
          </a:prstGeom>
          <a:solidFill>
            <a:srgbClr val="E8EEF5"/>
          </a:solidFill>
          <a:ln w="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ayoff-step-0">
            <a:extLst>
              <a:ext uri="{FF2B5EF4-FFF2-40B4-BE49-F238E27FC236}">
                <a16:creationId xmlns:a16="http://schemas.microsoft.com/office/drawing/2014/main" id="{7C93C431-478C-4515-AD64-52526F46A67A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1562100" cy="1390650"/>
          </a:xfrm>
          <a:prstGeom prst="roundRect">
            <a:avLst>
              <a:gd name="adj" fmla="val 5479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ayoff-number-0">
            <a:extLst>
              <a:ext uri="{FF2B5EF4-FFF2-40B4-BE49-F238E27FC236}">
                <a16:creationId xmlns:a16="http://schemas.microsoft.com/office/drawing/2014/main" id="{AB116C1E-1BFF-45A9-8006-CB23D8664B85}"/>
              </a:ext>
            </a:extLst>
          </p:cNvPr>
          <p:cNvSpPr>
            <a:spLocks noGrp="1"/>
          </p:cNvSpPr>
          <p:nvPr/>
        </p:nvSpPr>
        <p:spPr>
          <a:xfrm>
            <a:off x="1295400" y="2495550"/>
            <a:ext cx="400050" cy="4000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payoff-number-text-0">
            <a:extLst>
              <a:ext uri="{FF2B5EF4-FFF2-40B4-BE49-F238E27FC236}">
                <a16:creationId xmlns:a16="http://schemas.microsoft.com/office/drawing/2014/main" id="{9552CCFE-AD8B-46EF-BA8A-FED67E425258}"/>
              </a:ext>
            </a:extLst>
          </p:cNvPr>
          <p:cNvSpPr>
            <a:spLocks noGrp="1"/>
          </p:cNvSpPr>
          <p:nvPr/>
        </p:nvSpPr>
        <p:spPr>
          <a:xfrm>
            <a:off x="1295400" y="25908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payoff-title-0">
            <a:extLst>
              <a:ext uri="{FF2B5EF4-FFF2-40B4-BE49-F238E27FC236}">
                <a16:creationId xmlns:a16="http://schemas.microsoft.com/office/drawing/2014/main" id="{7518C3F3-BCD3-42B2-B21B-BD0673E9EF7C}"/>
              </a:ext>
            </a:extLst>
          </p:cNvPr>
          <p:cNvSpPr>
            <a:spLocks noGrp="1"/>
          </p:cNvSpPr>
          <p:nvPr/>
        </p:nvSpPr>
        <p:spPr>
          <a:xfrm>
            <a:off x="857250" y="302895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536"/>
          </a:bodyPr>
          <a:lstStyle/>
          <a:p>
            <a:pPr algn="ctr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Open L1 High Level</a:t>
            </a:r>
          </a:p>
        </p:txBody>
      </p:sp>
      <p:sp>
        <p:nvSpPr>
          <p:cNvPr id="20" name="payoff-body-0">
            <a:extLst>
              <a:ext uri="{FF2B5EF4-FFF2-40B4-BE49-F238E27FC236}">
                <a16:creationId xmlns:a16="http://schemas.microsoft.com/office/drawing/2014/main" id="{E468BD09-F5BB-4E59-997D-3499A05AB1ED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977"/>
          </a:bodyPr>
          <a:lstStyle/>
          <a:p>
            <a:pPr algn="ctr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See the lifecycle stage</a:t>
            </a:r>
          </a:p>
        </p:txBody>
      </p:sp>
      <p:sp>
        <p:nvSpPr>
          <p:cNvPr id="21" name="payoff-step-1">
            <a:extLst>
              <a:ext uri="{FF2B5EF4-FFF2-40B4-BE49-F238E27FC236}">
                <a16:creationId xmlns:a16="http://schemas.microsoft.com/office/drawing/2014/main" id="{C0C0C2FA-A28B-4C3D-A8DA-20A76BF3C632}"/>
              </a:ext>
            </a:extLst>
          </p:cNvPr>
          <p:cNvSpPr>
            <a:spLocks noGrp="1"/>
          </p:cNvSpPr>
          <p:nvPr/>
        </p:nvSpPr>
        <p:spPr>
          <a:xfrm>
            <a:off x="2705100" y="2324100"/>
            <a:ext cx="1562100" cy="1390650"/>
          </a:xfrm>
          <a:prstGeom prst="roundRect">
            <a:avLst>
              <a:gd name="adj" fmla="val 5479"/>
            </a:avLst>
          </a:prstGeom>
          <a:solidFill>
            <a:srgbClr val="D9F0EE"/>
          </a:solidFill>
          <a:ln w="9525">
            <a:solidFill>
              <a:srgbClr val="177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ayoff-number-1">
            <a:extLst>
              <a:ext uri="{FF2B5EF4-FFF2-40B4-BE49-F238E27FC236}">
                <a16:creationId xmlns:a16="http://schemas.microsoft.com/office/drawing/2014/main" id="{8BE6B706-05B2-4E35-ADA9-397641AE2190}"/>
              </a:ext>
            </a:extLst>
          </p:cNvPr>
          <p:cNvSpPr>
            <a:spLocks noGrp="1"/>
          </p:cNvSpPr>
          <p:nvPr/>
        </p:nvSpPr>
        <p:spPr>
          <a:xfrm>
            <a:off x="3276600" y="2495550"/>
            <a:ext cx="400050" cy="400050"/>
          </a:xfrm>
          <a:prstGeom prst="ellipse">
            <a:avLst/>
          </a:prstGeom>
          <a:solidFill>
            <a:srgbClr val="177A77"/>
          </a:solidFill>
          <a:ln w="0">
            <a:solidFill>
              <a:srgbClr val="177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ayoff-number-text-1">
            <a:extLst>
              <a:ext uri="{FF2B5EF4-FFF2-40B4-BE49-F238E27FC236}">
                <a16:creationId xmlns:a16="http://schemas.microsoft.com/office/drawing/2014/main" id="{F19F7078-6631-4CB5-9B9A-E93344A814C9}"/>
              </a:ext>
            </a:extLst>
          </p:cNvPr>
          <p:cNvSpPr>
            <a:spLocks noGrp="1"/>
          </p:cNvSpPr>
          <p:nvPr/>
        </p:nvSpPr>
        <p:spPr>
          <a:xfrm>
            <a:off x="3276600" y="25908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4" name="payoff-title-1">
            <a:extLst>
              <a:ext uri="{FF2B5EF4-FFF2-40B4-BE49-F238E27FC236}">
                <a16:creationId xmlns:a16="http://schemas.microsoft.com/office/drawing/2014/main" id="{0BF74A6F-027C-4D1E-AD2E-D84086D208C5}"/>
              </a:ext>
            </a:extLst>
          </p:cNvPr>
          <p:cNvSpPr>
            <a:spLocks noGrp="1"/>
          </p:cNvSpPr>
          <p:nvPr/>
        </p:nvSpPr>
        <p:spPr>
          <a:xfrm>
            <a:off x="2838450" y="302895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58342"/>
          </a:bodyPr>
          <a:lstStyle/>
          <a:p>
            <a:pPr algn="ctr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Open L2 Detailed Workflow</a:t>
            </a:r>
          </a:p>
        </p:txBody>
      </p:sp>
      <p:sp>
        <p:nvSpPr>
          <p:cNvPr id="25" name="payoff-body-1">
            <a:extLst>
              <a:ext uri="{FF2B5EF4-FFF2-40B4-BE49-F238E27FC236}">
                <a16:creationId xmlns:a16="http://schemas.microsoft.com/office/drawing/2014/main" id="{8457E6B1-A20C-48E2-B8CA-D808882F5EDB}"/>
              </a:ext>
            </a:extLst>
          </p:cNvPr>
          <p:cNvSpPr>
            <a:spLocks noGrp="1"/>
          </p:cNvSpPr>
          <p:nvPr/>
        </p:nvSpPr>
        <p:spPr>
          <a:xfrm>
            <a:off x="2838450" y="3314700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889"/>
          </a:bodyPr>
          <a:lstStyle/>
          <a:p>
            <a:pPr algn="ctr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Choose the owned node</a:t>
            </a:r>
          </a:p>
        </p:txBody>
      </p:sp>
      <p:sp>
        <p:nvSpPr>
          <p:cNvPr id="26" name="payoff-step-2">
            <a:extLst>
              <a:ext uri="{FF2B5EF4-FFF2-40B4-BE49-F238E27FC236}">
                <a16:creationId xmlns:a16="http://schemas.microsoft.com/office/drawing/2014/main" id="{E3550CE8-3BA1-4083-B23A-E80F3F9A55CC}"/>
              </a:ext>
            </a:extLst>
          </p:cNvPr>
          <p:cNvSpPr>
            <a:spLocks noGrp="1"/>
          </p:cNvSpPr>
          <p:nvPr/>
        </p:nvSpPr>
        <p:spPr>
          <a:xfrm>
            <a:off x="4686300" y="2324100"/>
            <a:ext cx="1562100" cy="1390650"/>
          </a:xfrm>
          <a:prstGeom prst="roundRect">
            <a:avLst>
              <a:gd name="adj" fmla="val 5479"/>
            </a:avLst>
          </a:prstGeom>
          <a:solidFill>
            <a:srgbClr val="EDE7FA"/>
          </a:solidFill>
          <a:ln w="9525">
            <a:solidFill>
              <a:srgbClr val="765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payoff-number-2">
            <a:extLst>
              <a:ext uri="{FF2B5EF4-FFF2-40B4-BE49-F238E27FC236}">
                <a16:creationId xmlns:a16="http://schemas.microsoft.com/office/drawing/2014/main" id="{D316ACD5-0F1F-4A7D-A378-C87A20F30A1E}"/>
              </a:ext>
            </a:extLst>
          </p:cNvPr>
          <p:cNvSpPr>
            <a:spLocks noGrp="1"/>
          </p:cNvSpPr>
          <p:nvPr/>
        </p:nvSpPr>
        <p:spPr>
          <a:xfrm>
            <a:off x="5257800" y="2495550"/>
            <a:ext cx="400050" cy="400050"/>
          </a:xfrm>
          <a:prstGeom prst="ellipse">
            <a:avLst/>
          </a:prstGeom>
          <a:solidFill>
            <a:srgbClr val="7657B5"/>
          </a:solidFill>
          <a:ln w="0">
            <a:solidFill>
              <a:srgbClr val="765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payoff-number-text-2">
            <a:extLst>
              <a:ext uri="{FF2B5EF4-FFF2-40B4-BE49-F238E27FC236}">
                <a16:creationId xmlns:a16="http://schemas.microsoft.com/office/drawing/2014/main" id="{B0A0A1BE-BB51-4732-915D-62D93E4A2144}"/>
              </a:ext>
            </a:extLst>
          </p:cNvPr>
          <p:cNvSpPr>
            <a:spLocks noGrp="1"/>
          </p:cNvSpPr>
          <p:nvPr/>
        </p:nvSpPr>
        <p:spPr>
          <a:xfrm>
            <a:off x="5257800" y="25908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9" name="payoff-title-2">
            <a:extLst>
              <a:ext uri="{FF2B5EF4-FFF2-40B4-BE49-F238E27FC236}">
                <a16:creationId xmlns:a16="http://schemas.microsoft.com/office/drawing/2014/main" id="{1B32B636-FED9-4ECB-B92B-4790B02E3951}"/>
              </a:ext>
            </a:extLst>
          </p:cNvPr>
          <p:cNvSpPr>
            <a:spLocks noGrp="1"/>
          </p:cNvSpPr>
          <p:nvPr/>
        </p:nvSpPr>
        <p:spPr>
          <a:xfrm>
            <a:off x="4819650" y="302895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5308"/>
          </a:bodyPr>
          <a:lstStyle/>
          <a:p>
            <a:pPr algn="ctr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Open L3 Execution View</a:t>
            </a:r>
          </a:p>
        </p:txBody>
      </p:sp>
      <p:sp>
        <p:nvSpPr>
          <p:cNvPr id="30" name="payoff-body-2">
            <a:extLst>
              <a:ext uri="{FF2B5EF4-FFF2-40B4-BE49-F238E27FC236}">
                <a16:creationId xmlns:a16="http://schemas.microsoft.com/office/drawing/2014/main" id="{242C1954-C1F8-4752-AE37-514E9BC39280}"/>
              </a:ext>
            </a:extLst>
          </p:cNvPr>
          <p:cNvSpPr>
            <a:spLocks noGrp="1"/>
          </p:cNvSpPr>
          <p:nvPr/>
        </p:nvSpPr>
        <p:spPr>
          <a:xfrm>
            <a:off x="4819650" y="3314700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889"/>
          </a:bodyPr>
          <a:lstStyle/>
          <a:p>
            <a:pPr algn="ctr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Complete the form + attach proof</a:t>
            </a:r>
          </a:p>
        </p:txBody>
      </p:sp>
      <p:sp>
        <p:nvSpPr>
          <p:cNvPr id="31" name="payoff-step-3">
            <a:extLst>
              <a:ext uri="{FF2B5EF4-FFF2-40B4-BE49-F238E27FC236}">
                <a16:creationId xmlns:a16="http://schemas.microsoft.com/office/drawing/2014/main" id="{5B63B2DD-4C3C-43E8-8F57-4C089DB8A917}"/>
              </a:ext>
            </a:extLst>
          </p:cNvPr>
          <p:cNvSpPr>
            <a:spLocks noGrp="1"/>
          </p:cNvSpPr>
          <p:nvPr/>
        </p:nvSpPr>
        <p:spPr>
          <a:xfrm>
            <a:off x="6667500" y="2324100"/>
            <a:ext cx="1562100" cy="1390650"/>
          </a:xfrm>
          <a:prstGeom prst="roundRect">
            <a:avLst>
              <a:gd name="adj" fmla="val 5479"/>
            </a:avLst>
          </a:prstGeom>
          <a:solidFill>
            <a:srgbClr val="F8E8D8"/>
          </a:solidFill>
          <a:ln w="9525">
            <a:solidFill>
              <a:srgbClr val="9A5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payoff-number-3">
            <a:extLst>
              <a:ext uri="{FF2B5EF4-FFF2-40B4-BE49-F238E27FC236}">
                <a16:creationId xmlns:a16="http://schemas.microsoft.com/office/drawing/2014/main" id="{641713D8-B7DB-4631-8BFB-6EA6279C9020}"/>
              </a:ext>
            </a:extLst>
          </p:cNvPr>
          <p:cNvSpPr>
            <a:spLocks noGrp="1"/>
          </p:cNvSpPr>
          <p:nvPr/>
        </p:nvSpPr>
        <p:spPr>
          <a:xfrm>
            <a:off x="7239000" y="2495550"/>
            <a:ext cx="400050" cy="400050"/>
          </a:xfrm>
          <a:prstGeom prst="ellipse">
            <a:avLst/>
          </a:prstGeom>
          <a:solidFill>
            <a:srgbClr val="9A5C24"/>
          </a:solidFill>
          <a:ln w="0">
            <a:solidFill>
              <a:srgbClr val="9A5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payoff-number-text-3">
            <a:extLst>
              <a:ext uri="{FF2B5EF4-FFF2-40B4-BE49-F238E27FC236}">
                <a16:creationId xmlns:a16="http://schemas.microsoft.com/office/drawing/2014/main" id="{D93BC7D4-1DEF-4EE2-88BE-D4D5B59C0D18}"/>
              </a:ext>
            </a:extLst>
          </p:cNvPr>
          <p:cNvSpPr>
            <a:spLocks noGrp="1"/>
          </p:cNvSpPr>
          <p:nvPr/>
        </p:nvSpPr>
        <p:spPr>
          <a:xfrm>
            <a:off x="7239000" y="25908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4" name="payoff-title-3">
            <a:extLst>
              <a:ext uri="{FF2B5EF4-FFF2-40B4-BE49-F238E27FC236}">
                <a16:creationId xmlns:a16="http://schemas.microsoft.com/office/drawing/2014/main" id="{8C1C06B0-6E71-4509-A5FD-E487C89CB5D8}"/>
              </a:ext>
            </a:extLst>
          </p:cNvPr>
          <p:cNvSpPr>
            <a:spLocks noGrp="1"/>
          </p:cNvSpPr>
          <p:nvPr/>
        </p:nvSpPr>
        <p:spPr>
          <a:xfrm>
            <a:off x="6800850" y="302895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35" name="payoff-body-3">
            <a:extLst>
              <a:ext uri="{FF2B5EF4-FFF2-40B4-BE49-F238E27FC236}">
                <a16:creationId xmlns:a16="http://schemas.microsoft.com/office/drawing/2014/main" id="{C5F67F82-0121-4CFF-92DF-250ABAB09B0F}"/>
              </a:ext>
            </a:extLst>
          </p:cNvPr>
          <p:cNvSpPr>
            <a:spLocks noGrp="1"/>
          </p:cNvSpPr>
          <p:nvPr/>
        </p:nvSpPr>
        <p:spPr>
          <a:xfrm>
            <a:off x="6800850" y="3314700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203"/>
          </a:bodyPr>
          <a:lstStyle/>
          <a:p>
            <a:pPr algn="ctr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Score · route · actions</a:t>
            </a:r>
          </a:p>
        </p:txBody>
      </p:sp>
      <p:sp>
        <p:nvSpPr>
          <p:cNvPr id="36" name="payoff-step-4">
            <a:extLst>
              <a:ext uri="{FF2B5EF4-FFF2-40B4-BE49-F238E27FC236}">
                <a16:creationId xmlns:a16="http://schemas.microsoft.com/office/drawing/2014/main" id="{5225888C-997F-465F-BC2C-55DBFA43367C}"/>
              </a:ext>
            </a:extLst>
          </p:cNvPr>
          <p:cNvSpPr>
            <a:spLocks noGrp="1"/>
          </p:cNvSpPr>
          <p:nvPr/>
        </p:nvSpPr>
        <p:spPr>
          <a:xfrm>
            <a:off x="8648700" y="2324100"/>
            <a:ext cx="1562100" cy="1390650"/>
          </a:xfrm>
          <a:prstGeom prst="roundRect">
            <a:avLst>
              <a:gd name="adj" fmla="val 5479"/>
            </a:avLst>
          </a:prstGeom>
          <a:solidFill>
            <a:srgbClr val="E5F0E2"/>
          </a:solidFill>
          <a:ln w="9525">
            <a:solidFill>
              <a:srgbClr val="527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payoff-number-4">
            <a:extLst>
              <a:ext uri="{FF2B5EF4-FFF2-40B4-BE49-F238E27FC236}">
                <a16:creationId xmlns:a16="http://schemas.microsoft.com/office/drawing/2014/main" id="{E7DA4FBC-BE73-4A88-8A3B-A6B82395D980}"/>
              </a:ext>
            </a:extLst>
          </p:cNvPr>
          <p:cNvSpPr>
            <a:spLocks noGrp="1"/>
          </p:cNvSpPr>
          <p:nvPr/>
        </p:nvSpPr>
        <p:spPr>
          <a:xfrm>
            <a:off x="9220200" y="2495550"/>
            <a:ext cx="400050" cy="400050"/>
          </a:xfrm>
          <a:prstGeom prst="ellipse">
            <a:avLst/>
          </a:prstGeom>
          <a:solidFill>
            <a:srgbClr val="52734D"/>
          </a:solidFill>
          <a:ln w="0">
            <a:solidFill>
              <a:srgbClr val="527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ayoff-number-text-4">
            <a:extLst>
              <a:ext uri="{FF2B5EF4-FFF2-40B4-BE49-F238E27FC236}">
                <a16:creationId xmlns:a16="http://schemas.microsoft.com/office/drawing/2014/main" id="{3EDC8562-EC53-4F68-B525-4242E50486A4}"/>
              </a:ext>
            </a:extLst>
          </p:cNvPr>
          <p:cNvSpPr>
            <a:spLocks noGrp="1"/>
          </p:cNvSpPr>
          <p:nvPr/>
        </p:nvSpPr>
        <p:spPr>
          <a:xfrm>
            <a:off x="9220200" y="25908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9" name="payoff-title-4">
            <a:extLst>
              <a:ext uri="{FF2B5EF4-FFF2-40B4-BE49-F238E27FC236}">
                <a16:creationId xmlns:a16="http://schemas.microsoft.com/office/drawing/2014/main" id="{E066D7C5-147B-4B2D-8A23-BC1D68528884}"/>
              </a:ext>
            </a:extLst>
          </p:cNvPr>
          <p:cNvSpPr>
            <a:spLocks noGrp="1"/>
          </p:cNvSpPr>
          <p:nvPr/>
        </p:nvSpPr>
        <p:spPr>
          <a:xfrm>
            <a:off x="8782050" y="302895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Release</a:t>
            </a:r>
          </a:p>
        </p:txBody>
      </p:sp>
      <p:sp>
        <p:nvSpPr>
          <p:cNvPr id="40" name="payoff-body-4">
            <a:extLst>
              <a:ext uri="{FF2B5EF4-FFF2-40B4-BE49-F238E27FC236}">
                <a16:creationId xmlns:a16="http://schemas.microsoft.com/office/drawing/2014/main" id="{E1987F46-DCD1-4616-82C0-8AAF7AA0DECC}"/>
              </a:ext>
            </a:extLst>
          </p:cNvPr>
          <p:cNvSpPr>
            <a:spLocks noGrp="1"/>
          </p:cNvSpPr>
          <p:nvPr/>
        </p:nvSpPr>
        <p:spPr>
          <a:xfrm>
            <a:off x="8782050" y="3314700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163"/>
          </a:bodyPr>
          <a:lstStyle/>
          <a:p>
            <a:pPr algn="ctr">
              <a:def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Pass, hold, or resolve</a:t>
            </a:r>
          </a:p>
        </p:txBody>
      </p:sp>
      <p:sp>
        <p:nvSpPr>
          <p:cNvPr id="41" name="payoff-left">
            <a:extLst>
              <a:ext uri="{FF2B5EF4-FFF2-40B4-BE49-F238E27FC236}">
                <a16:creationId xmlns:a16="http://schemas.microsoft.com/office/drawing/2014/main" id="{E6AFA187-8CAF-42C8-ADC7-A811D5B642E0}"/>
              </a:ext>
            </a:extLst>
          </p:cNvPr>
          <p:cNvSpPr>
            <a:spLocks noGrp="1"/>
          </p:cNvSpPr>
          <p:nvPr/>
        </p:nvSpPr>
        <p:spPr>
          <a:xfrm>
            <a:off x="990600" y="4248150"/>
            <a:ext cx="4724400" cy="1409700"/>
          </a:xfrm>
          <a:prstGeom prst="roundRect">
            <a:avLst>
              <a:gd name="adj" fmla="val 5405"/>
            </a:avLst>
          </a:prstGeom>
          <a:solidFill>
            <a:srgbClr val="F2F4F7"/>
          </a:solidFill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payoff-left-title">
            <a:extLst>
              <a:ext uri="{FF2B5EF4-FFF2-40B4-BE49-F238E27FC236}">
                <a16:creationId xmlns:a16="http://schemas.microsoft.com/office/drawing/2014/main" id="{4EE97393-2003-440E-B88D-912F5E090340}"/>
              </a:ext>
            </a:extLst>
          </p:cNvPr>
          <p:cNvSpPr>
            <a:spLocks noGrp="1"/>
          </p:cNvSpPr>
          <p:nvPr/>
        </p:nvSpPr>
        <p:spPr>
          <a:xfrm>
            <a:off x="1257300" y="449580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l">
              <a:defRPr sz="1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What changes for the team</a:t>
            </a:r>
          </a:p>
        </p:txBody>
      </p:sp>
      <p:sp>
        <p:nvSpPr>
          <p:cNvPr id="43" name="payoff-left-body">
            <a:extLst>
              <a:ext uri="{FF2B5EF4-FFF2-40B4-BE49-F238E27FC236}">
                <a16:creationId xmlns:a16="http://schemas.microsoft.com/office/drawing/2014/main" id="{7C28B17C-2489-436E-B608-AFF3F2AE445E}"/>
              </a:ext>
            </a:extLst>
          </p:cNvPr>
          <p:cNvSpPr>
            <a:spLocks noGrp="1"/>
          </p:cNvSpPr>
          <p:nvPr/>
        </p:nvSpPr>
        <p:spPr>
          <a:xfrm>
            <a:off x="1257300" y="4876800"/>
            <a:ext cx="4171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073"/>
          </a:bodyPr>
          <a:lstStyle/>
          <a:p>
            <a:pPr algn="l">
              <a:defRPr sz="12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L1 High Level is easy to scan.</a:t>
            </a:r>
          </a:p>
          <a:p>
            <a:pPr algn="l">
              <a:defRPr sz="12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L2 Detailed Workflow makes ownership visible.</a:t>
            </a:r>
          </a:p>
          <a:p>
            <a:pPr algn="l">
              <a:defRPr sz="12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L3 Execution View keeps forms, evidence, and gates together.</a:t>
            </a:r>
          </a:p>
        </p:txBody>
      </p:sp>
      <p:sp>
        <p:nvSpPr>
          <p:cNvPr id="44" name="payoff-right">
            <a:extLst>
              <a:ext uri="{FF2B5EF4-FFF2-40B4-BE49-F238E27FC236}">
                <a16:creationId xmlns:a16="http://schemas.microsoft.com/office/drawing/2014/main" id="{AA597DFF-D5A5-4421-A9E7-DE50AE2C8A85}"/>
              </a:ext>
            </a:extLst>
          </p:cNvPr>
          <p:cNvSpPr>
            <a:spLocks noGrp="1"/>
          </p:cNvSpPr>
          <p:nvPr/>
        </p:nvSpPr>
        <p:spPr>
          <a:xfrm>
            <a:off x="6172200" y="4248150"/>
            <a:ext cx="5029200" cy="1409700"/>
          </a:xfrm>
          <a:prstGeom prst="roundRect">
            <a:avLst>
              <a:gd name="adj" fmla="val 5405"/>
            </a:avLst>
          </a:prstGeom>
          <a:solidFill>
            <a:srgbClr val="0B2545"/>
          </a:solidFill>
          <a:ln w="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payoff-right-title">
            <a:extLst>
              <a:ext uri="{FF2B5EF4-FFF2-40B4-BE49-F238E27FC236}">
                <a16:creationId xmlns:a16="http://schemas.microsoft.com/office/drawing/2014/main" id="{4D70A0BE-9F23-48F1-9B74-64A9D5761123}"/>
              </a:ext>
            </a:extLst>
          </p:cNvPr>
          <p:cNvSpPr>
            <a:spLocks noGrp="1"/>
          </p:cNvSpPr>
          <p:nvPr/>
        </p:nvSpPr>
        <p:spPr>
          <a:xfrm>
            <a:off x="6477000" y="4495800"/>
            <a:ext cx="443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pitch in one sentence</a:t>
            </a:r>
          </a:p>
        </p:txBody>
      </p:sp>
      <p:sp>
        <p:nvSpPr>
          <p:cNvPr id="46" name="payoff-right-body">
            <a:extLst>
              <a:ext uri="{FF2B5EF4-FFF2-40B4-BE49-F238E27FC236}">
                <a16:creationId xmlns:a16="http://schemas.microsoft.com/office/drawing/2014/main" id="{A530D5AD-64F6-4202-8F5D-3CB035C54E15}"/>
              </a:ext>
            </a:extLst>
          </p:cNvPr>
          <p:cNvSpPr>
            <a:spLocks noGrp="1"/>
          </p:cNvSpPr>
          <p:nvPr/>
        </p:nvSpPr>
        <p:spPr>
          <a:xfrm>
            <a:off x="6477000" y="4876800"/>
            <a:ext cx="4438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50"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L1 High Level small, link every L2 Detailed Workflow node to it, and make L3 Execution View the release point.</a:t>
            </a:r>
          </a:p>
        </p:txBody>
      </p:sp>
      <p:sp>
        <p:nvSpPr>
          <p:cNvPr id="47" name="footer-rule-6">
            <a:extLst>
              <a:ext uri="{FF2B5EF4-FFF2-40B4-BE49-F238E27FC236}">
                <a16:creationId xmlns:a16="http://schemas.microsoft.com/office/drawing/2014/main" id="{4EEE1D96-36E2-480C-B953-2605A7F8355C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9D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ooter-page-6">
            <a:extLst>
              <a:ext uri="{FF2B5EF4-FFF2-40B4-BE49-F238E27FC236}">
                <a16:creationId xmlns:a16="http://schemas.microsoft.com/office/drawing/2014/main" id="{0A7223F5-F1E1-406E-8CBD-B560F0B5FC02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974364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roFab JF Traceability">
      <a:dk1>
        <a:srgbClr val="000000"/>
      </a:dk1>
      <a:lt1>
        <a:srgbClr val="FFFFFF"/>
      </a:lt1>
      <a:dk2>
        <a:srgbClr val="0B2545"/>
      </a:dk2>
      <a:lt2>
        <a:srgbClr val="E8EEF5"/>
      </a:lt2>
      <a:accent1>
        <a:srgbClr val="3D8DFF"/>
      </a:accent1>
      <a:accent2>
        <a:srgbClr val="177A77"/>
      </a:accent2>
      <a:accent3>
        <a:srgbClr val="7657B5"/>
      </a:accent3>
      <a:accent4>
        <a:srgbClr val="9A5C24"/>
      </a:accent4>
      <a:accent5>
        <a:srgbClr val="52734D"/>
      </a:accent5>
      <a:accent6>
        <a:srgbClr val="7A5A00"/>
      </a:accent6>
      <a:hlink>
        <a:srgbClr val="3D8DFF"/>
      </a:hlink>
      <a:folHlink>
        <a:srgbClr val="7657B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Fab JF Traceabil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ProFab JF Traceability">
      <a:dk1>
        <a:srgbClr val="000000"/>
      </a:dk1>
      <a:lt1>
        <a:srgbClr val="FFFFFF"/>
      </a:lt1>
      <a:dk2>
        <a:srgbClr val="0B2545"/>
      </a:dk2>
      <a:lt2>
        <a:srgbClr val="E8EEF5"/>
      </a:lt2>
      <a:accent1>
        <a:srgbClr val="3D8DFF"/>
      </a:accent1>
      <a:accent2>
        <a:srgbClr val="177A77"/>
      </a:accent2>
      <a:accent3>
        <a:srgbClr val="7657B5"/>
      </a:accent3>
      <a:accent4>
        <a:srgbClr val="9A5C24"/>
      </a:accent4>
      <a:accent5>
        <a:srgbClr val="52734D"/>
      </a:accent5>
      <a:accent6>
        <a:srgbClr val="7A5A00"/>
      </a:accent6>
      <a:hlink>
        <a:srgbClr val="3D8DFF"/>
      </a:hlink>
      <a:folHlink>
        <a:srgbClr val="7657B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Fab JF Traceabil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Microsoft Macintosh PowerPoint</Application>
  <DocSecurity>0</DocSecurity>
  <PresentationFormat>Widescreen</PresentationFormat>
  <Paragraphs>157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Fengbang Yang</cp:lastModifiedBy>
  <cp:revision>1</cp:revision>
  <dcterms:created xsi:type="dcterms:W3CDTF">2026-08-31T19:31:35Z</dcterms:created>
  <dcterms:modified xsi:type="dcterms:W3CDTF">2026-08-31T19:36:35Z</dcterms:modified>
</cp:coreProperties>
</file>